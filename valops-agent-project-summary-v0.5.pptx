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Sources: solana-agave-node-ops-agent-plan-v0.5.md (governs), valops-agent-mvp-hld-v0.5.md, docs/IMPLEMENTATION-NOTES.md, and a test run on 2026-09-21.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1188720"/>
            <a:ext cx="1737360" cy="329184"/>
          </a:xfrm>
          <a:prstGeom prst="roundRect">
            <a:avLst>
              <a:gd name="adj" fmla="val 22222"/>
            </a:avLst>
          </a:prstGeom>
          <a:solidFill>
            <a:srgbClr val="0E9E8A"/>
          </a:solidFill>
          <a:ln w="12700">
            <a:solidFill>
              <a:srgbClr val="0E9E8A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731520" y="1188720"/>
            <a:ext cx="1737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SUMMARY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1783080"/>
            <a:ext cx="10058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valops-agent</a:t>
            </a:r>
            <a:endParaRPr lang="en-US" sz="54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2743200"/>
            <a:ext cx="9601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C9D3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contained, read-only incident-analysis assistant for one Agave validator on Solana testnet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731520" y="4069080"/>
            <a:ext cx="2103120" cy="868680"/>
          </a:xfrm>
          <a:prstGeom prst="roundRect">
            <a:avLst>
              <a:gd name="adj" fmla="val 10526"/>
            </a:avLst>
          </a:prstGeom>
          <a:solidFill>
            <a:srgbClr val="1B2735"/>
          </a:solidFill>
          <a:ln w="12700">
            <a:solidFill>
              <a:srgbClr val="1B2735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914400" y="416052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FA0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914400" y="4462272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v0.5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3063240" y="4069080"/>
            <a:ext cx="2103120" cy="868680"/>
          </a:xfrm>
          <a:prstGeom prst="roundRect">
            <a:avLst>
              <a:gd name="adj" fmla="val 10526"/>
            </a:avLst>
          </a:prstGeom>
          <a:solidFill>
            <a:srgbClr val="1B2735"/>
          </a:solidFill>
          <a:ln w="12700">
            <a:solidFill>
              <a:srgbClr val="1B2735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3246120" y="416052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FA0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HLD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3246120" y="4462272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v0.5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5394960" y="4069080"/>
            <a:ext cx="2103120" cy="868680"/>
          </a:xfrm>
          <a:prstGeom prst="roundRect">
            <a:avLst>
              <a:gd name="adj" fmla="val 10526"/>
            </a:avLst>
          </a:prstGeom>
          <a:solidFill>
            <a:srgbClr val="1B2735"/>
          </a:solidFill>
          <a:ln w="12700">
            <a:solidFill>
              <a:srgbClr val="1B2735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5577840" y="416052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FA0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Codebase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5577840" y="4462272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M0 status</a:t>
            </a:r>
            <a:endParaRPr lang="en-US" sz="1800" dirty="0"/>
          </a:p>
        </p:txBody>
      </p:sp>
      <p:sp>
        <p:nvSpPr>
          <p:cNvPr id="15" name="Text 13"/>
          <p:cNvSpPr txBox="1"/>
          <p:nvPr/>
        </p:nvSpPr>
        <p:spPr>
          <a:xfrm>
            <a:off x="731520" y="57607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FA0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Peng Huang  ·  21 September 2026  ·  DRAFT for review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17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At a glance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87552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5B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M0 is deliberately narrow. The containment layer comes first; the diagnosis workflow is built on top of it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2606040" cy="2103120"/>
          </a:xfrm>
          <a:prstGeom prst="roundRect">
            <a:avLst>
              <a:gd name="adj" fmla="val 4348"/>
            </a:avLst>
          </a:prstGeom>
          <a:solidFill>
            <a:srgbClr val="F1F4F7"/>
          </a:solidFill>
          <a:ln w="12700">
            <a:solidFill>
              <a:srgbClr val="F1F4F7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1737360"/>
            <a:ext cx="2103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0E9E8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60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65176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Agave testnet validator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301752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named on-call operator + backup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364992" y="1600200"/>
            <a:ext cx="2606040" cy="2103120"/>
          </a:xfrm>
          <a:prstGeom prst="roundRect">
            <a:avLst>
              <a:gd name="adj" fmla="val 4348"/>
            </a:avLst>
          </a:prstGeom>
          <a:solidFill>
            <a:srgbClr val="F1F4F7"/>
          </a:solidFill>
          <a:ln w="12700">
            <a:solidFill>
              <a:srgbClr val="F1F4F7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639312" y="1737360"/>
            <a:ext cx="2103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0E9E8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</a:t>
            </a:r>
            <a:endParaRPr lang="en-US" sz="6000" dirty="0"/>
          </a:p>
        </p:txBody>
      </p:sp>
      <p:sp>
        <p:nvSpPr>
          <p:cNvPr id="10" name="Text 8"/>
          <p:cNvSpPr txBox="1"/>
          <p:nvPr/>
        </p:nvSpPr>
        <p:spPr>
          <a:xfrm>
            <a:off x="3639312" y="265176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validator write paths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3639312" y="301752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executor, no approval service in M0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181344" y="1600200"/>
            <a:ext cx="2606040" cy="2103120"/>
          </a:xfrm>
          <a:prstGeom prst="roundRect">
            <a:avLst>
              <a:gd name="adj" fmla="val 4348"/>
            </a:avLst>
          </a:prstGeom>
          <a:solidFill>
            <a:srgbClr val="F1F4F7"/>
          </a:solidFill>
          <a:ln w="12700">
            <a:solidFill>
              <a:srgbClr val="F1F4F7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455664" y="1737360"/>
            <a:ext cx="2103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6A4BD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6000" dirty="0"/>
          </a:p>
        </p:txBody>
      </p:sp>
      <p:sp>
        <p:nvSpPr>
          <p:cNvPr id="14" name="Text 12"/>
          <p:cNvSpPr txBox="1"/>
          <p:nvPr/>
        </p:nvSpPr>
        <p:spPr>
          <a:xfrm>
            <a:off x="6455664" y="265176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supported fault classes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6455664" y="301752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FC-1 … FC-5, each injectable on testnet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8997696" y="1600200"/>
            <a:ext cx="2606040" cy="2103120"/>
          </a:xfrm>
          <a:prstGeom prst="roundRect">
            <a:avLst>
              <a:gd name="adj" fmla="val 4348"/>
            </a:avLst>
          </a:prstGeom>
          <a:solidFill>
            <a:srgbClr val="F1F4F7"/>
          </a:solidFill>
          <a:ln w="12700">
            <a:solidFill>
              <a:srgbClr val="F1F4F7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9272016" y="1737360"/>
            <a:ext cx="2103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6A4BD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6000" dirty="0"/>
          </a:p>
        </p:txBody>
      </p:sp>
      <p:sp>
        <p:nvSpPr>
          <p:cNvPr id="18" name="Text 16"/>
          <p:cNvSpPr txBox="1"/>
          <p:nvPr/>
        </p:nvSpPr>
        <p:spPr>
          <a:xfrm>
            <a:off x="9272016" y="265176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providers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9272016" y="301752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(reference) · Codex · Gemini via Antigravity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548640" y="4023360"/>
            <a:ext cx="11064240" cy="2148840"/>
          </a:xfrm>
          <a:prstGeom prst="roundRect">
            <a:avLst>
              <a:gd name="adj" fmla="val 4255"/>
            </a:avLst>
          </a:prstGeom>
          <a:solidFill>
            <a:srgbClr val="FBEBD2"/>
          </a:solidFill>
          <a:ln w="12700">
            <a:solidFill>
              <a:srgbClr val="FBEBD2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22960" y="4251960"/>
            <a:ext cx="2377440" cy="347472"/>
          </a:xfrm>
          <a:prstGeom prst="roundRect">
            <a:avLst>
              <a:gd name="adj" fmla="val 21053"/>
            </a:avLst>
          </a:prstGeom>
          <a:solidFill>
            <a:srgbClr val="C9821C"/>
          </a:solidFill>
          <a:ln w="12700">
            <a:solidFill>
              <a:srgbClr val="C9821C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822960" y="4251960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CONDITIONAL NO-GO</a:t>
            </a:r>
            <a:endParaRPr lang="en-US" sz="1200" dirty="0"/>
          </a:p>
        </p:txBody>
      </p:sp>
      <p:sp>
        <p:nvSpPr>
          <p:cNvPr id="23" name="Text 21"/>
          <p:cNvSpPr txBox="1"/>
          <p:nvPr/>
        </p:nvSpPr>
        <p:spPr>
          <a:xfrm>
            <a:off x="3429000" y="4206240"/>
            <a:ext cx="7955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documents gate implementation on G0. The M0 code was written ahead of G0 at the owner's request.</a:t>
            </a:r>
            <a:endParaRPr lang="en-US" sz="1500" dirty="0"/>
          </a:p>
        </p:txBody>
      </p:sp>
      <p:sp>
        <p:nvSpPr>
          <p:cNvPr id="24" name="Text 22"/>
          <p:cNvSpPr txBox="1"/>
          <p:nvPr/>
        </p:nvSpPr>
        <p:spPr>
          <a:xfrm>
            <a:off x="868680" y="4754880"/>
            <a:ext cx="10515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carries no gate weight until G0 approves the delivery package.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 suite: 106 tests pass, 14 skipped (they need the pinned runtime or a live provider key).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step: close the G0 decisions, then prove the 4 containment properties on real boundaries (G1).</a:t>
            </a:r>
            <a:endParaRPr lang="en-US" sz="1400" dirty="0"/>
          </a:p>
        </p:txBody>
      </p:sp>
      <p:sp>
        <p:nvSpPr>
          <p:cNvPr id="25" name="Text 23"/>
          <p:cNvSpPr txBox="1"/>
          <p:nvPr/>
        </p:nvSpPr>
        <p:spPr>
          <a:xfrm>
            <a:off x="548640" y="6446520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§2.6, §7.2 · README gate status · pytest run 2026-09-21</a:t>
            </a:r>
            <a:endParaRPr lang="en-US" sz="900" dirty="0"/>
          </a:p>
        </p:txBody>
      </p:sp>
      <p:sp>
        <p:nvSpPr>
          <p:cNvPr id="26" name="Text 24"/>
          <p:cNvSpPr txBox="1"/>
          <p:nvPr/>
        </p:nvSpPr>
        <p:spPr>
          <a:xfrm>
            <a:off x="1115568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17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M0 is — and what it is not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234440"/>
            <a:ext cx="11064240" cy="1234440"/>
          </a:xfrm>
          <a:prstGeom prst="roundRect">
            <a:avLst>
              <a:gd name="adj" fmla="val 7407"/>
            </a:avLst>
          </a:prstGeom>
          <a:solidFill>
            <a:srgbClr val="D7F2EC"/>
          </a:solidFill>
          <a:ln w="12700">
            <a:solidFill>
              <a:srgbClr val="D7F2EC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822960" y="134416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0E9E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HYPOTHESIS [H]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1627632"/>
            <a:ext cx="10515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the supported fault classes, an evidence-linked incident report delivered within the latency target lets the on-call operator reach a correct diagnosis faster and with less effort than the agave-watchtower alert alone — at acceptable cost and with no measurable impact on the validator.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2697480"/>
            <a:ext cx="5394960" cy="3611880"/>
          </a:xfrm>
          <a:prstGeom prst="roundRect">
            <a:avLst>
              <a:gd name="adj" fmla="val 2532"/>
            </a:avLst>
          </a:prstGeom>
          <a:solidFill>
            <a:srgbClr val="F1F4F7"/>
          </a:solidFill>
          <a:ln w="12700">
            <a:solidFill>
              <a:srgbClr val="F1F4F7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22960" y="2880360"/>
            <a:ext cx="1463040" cy="310896"/>
          </a:xfrm>
          <a:prstGeom prst="roundRect">
            <a:avLst>
              <a:gd name="adj" fmla="val 23529"/>
            </a:avLst>
          </a:prstGeom>
          <a:solidFill>
            <a:srgbClr val="0E9E8A"/>
          </a:solidFill>
          <a:ln w="12700">
            <a:solidFill>
              <a:srgbClr val="0E9E8A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22960" y="2880360"/>
            <a:ext cx="1463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M0 IS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822960" y="3337560"/>
            <a:ext cx="484632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read-only incident-analysis assistant for a named operator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Observes one Agave testnet validator (tiers T0 / T1 only)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Opens an episode, diagnoses with ranked, falsifiable hypotheses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Recommends; an isolated Judge checks every recommendation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Reports to the operator's channel alongside watchtower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Confirms recovery deterministically, then sends a closure report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217920" y="2697480"/>
            <a:ext cx="5394960" cy="3611880"/>
          </a:xfrm>
          <a:prstGeom prst="roundRect">
            <a:avLst>
              <a:gd name="adj" fmla="val 2532"/>
            </a:avLst>
          </a:prstGeom>
          <a:solidFill>
            <a:srgbClr val="F1F4F7"/>
          </a:solidFill>
          <a:ln w="12700">
            <a:solidFill>
              <a:srgbClr val="F1F4F7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492240" y="2880360"/>
            <a:ext cx="1463040" cy="310896"/>
          </a:xfrm>
          <a:prstGeom prst="roundRect">
            <a:avLst>
              <a:gd name="adj" fmla="val 23529"/>
            </a:avLst>
          </a:prstGeom>
          <a:solidFill>
            <a:srgbClr val="C0453F"/>
          </a:solidFill>
          <a:ln w="12700">
            <a:solidFill>
              <a:srgbClr val="C0453F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492240" y="2880360"/>
            <a:ext cx="1463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M0 IS NOT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6492240" y="3337560"/>
            <a:ext cx="484632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autonomous validator operator — it executes nothing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Restarts, upgrades, failover (set-identity), snapshot download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Stake, delegation, commission or withdrawer-key operations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Non-Agave clients, mainnet-beta, or multi-validator fleets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offline tuning loop or published trust metrics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claim of zero availability risk (residual load is bounded)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548640" y="6446520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§2.1–§2.6 · HLD §1–§2</a:t>
            </a:r>
            <a:endParaRPr lang="en-US" sz="900" dirty="0"/>
          </a:p>
        </p:txBody>
      </p:sp>
      <p:sp>
        <p:nvSpPr>
          <p:cNvPr id="15" name="Text 13"/>
          <p:cNvSpPr txBox="1"/>
          <p:nvPr/>
        </p:nvSpPr>
        <p:spPr>
          <a:xfrm>
            <a:off x="1115568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17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Supported fault classes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87552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5B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class has a reproducible testnet injection; the injector records the root cause before the operator reads a report</a:t>
            </a:r>
            <a:endParaRPr lang="en-US" sz="15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54480"/>
          <a:ext cx="11064240" cy="914400"/>
        </p:xfrm>
        <a:graphic>
          <a:graphicData uri="http://schemas.openxmlformats.org/drawingml/2006/table">
            <a:tbl>
              <a:tblPr/>
              <a:tblGrid>
                <a:gridCol w="822960"/>
                <a:gridCol w="4023360"/>
                <a:gridCol w="3566160"/>
                <a:gridCol w="265176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Fault class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Injection on testnet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Primary signals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0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6A4BD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FC-1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Validator process stopped / unit failed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5B667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Stop the systemd unit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43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unit state, catch-up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6A4BD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FC-2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Identity balance below floor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5B667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Transfer out until below P-02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43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identity_balance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6A4BD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FC-3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Ledger / accounts volume low on headroom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5B667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Ballast file below P-04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43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host_metrics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6A4BD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FC-4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Running version ≠ expected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5B667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Declare a different expected version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43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running_version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6A4BD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FC-5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Telemetry loss (unreachable, slow, stale)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5B667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Stop, throttle or partition observer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43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telemetry probes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548640" y="4572000"/>
            <a:ext cx="11064240" cy="1645920"/>
          </a:xfrm>
          <a:prstGeom prst="roundRect">
            <a:avLst>
              <a:gd name="adj" fmla="val 5556"/>
            </a:avLst>
          </a:prstGeom>
          <a:solidFill>
            <a:srgbClr val="F1F4F7"/>
          </a:solidFill>
          <a:ln w="12700">
            <a:solidFill>
              <a:srgbClr val="F1F4F7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822960" y="470916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Outside FC-1 … FC-5?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822960" y="5074920"/>
            <a:ext cx="105156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still opens an episode and a report, labelled “outside supported classes”. It counts toward operator burden (Q-5) and cost (Q-6), but not toward diagnosis quality (Q-1) or actionability (Q-2). Telemetry loss never raises, lowers or resolves a validator-health episode: missing data is its own incident (FR-13).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6446520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§2.6 · FR-13</a:t>
            </a:r>
            <a:endParaRPr lang="en-US" sz="900" dirty="0"/>
          </a:p>
        </p:txBody>
      </p:sp>
      <p:sp>
        <p:nvSpPr>
          <p:cNvPr id="9" name="Text 6"/>
          <p:cNvSpPr txBox="1"/>
          <p:nvPr/>
        </p:nvSpPr>
        <p:spPr>
          <a:xfrm>
            <a:off x="1115568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17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Architecture: the model never holds a capability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87552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5B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process classes with disjoint credentials; every check re-done by a broker outside the model's process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457200" y="1463040"/>
            <a:ext cx="8046720" cy="4892040"/>
          </a:xfrm>
          <a:prstGeom prst="roundRect">
            <a:avLst>
              <a:gd name="adj" fmla="val 2243"/>
            </a:avLst>
          </a:prstGeom>
          <a:solidFill>
            <a:srgbClr val="F7F9FB"/>
          </a:solidFill>
          <a:ln w="12700">
            <a:solidFill>
              <a:srgbClr val="D5DBE2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85800" y="153619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5B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OPS HOST (no keypairs)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685800" y="1874520"/>
            <a:ext cx="4526280" cy="566928"/>
          </a:xfrm>
          <a:prstGeom prst="roundRect">
            <a:avLst>
              <a:gd name="adj" fmla="val 16129"/>
            </a:avLst>
          </a:prstGeom>
          <a:solidFill>
            <a:srgbClr val="D7F2EC"/>
          </a:solidFill>
          <a:ln w="12700">
            <a:solidFill>
              <a:srgbClr val="D7F2EC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22960" y="1938528"/>
            <a:ext cx="4251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E9E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Sentinel + telemetry-health checks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2203704"/>
            <a:ext cx="4251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deterministic; opens episodes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685800" y="2697480"/>
            <a:ext cx="4526280" cy="731520"/>
          </a:xfrm>
          <a:prstGeom prst="roundRect">
            <a:avLst>
              <a:gd name="adj" fmla="val 12500"/>
            </a:avLst>
          </a:prstGeom>
          <a:solidFill>
            <a:srgbClr val="D7F2EC"/>
          </a:solidFill>
          <a:ln w="12700">
            <a:solidFill>
              <a:srgbClr val="D7F2EC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822960" y="2761488"/>
            <a:ext cx="4251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E9E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CONTROLLER  (trusted)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822960" y="3026664"/>
            <a:ext cx="4251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episode runner · CAS transitions · artefact validation · mints scoped tokens · holds no provider key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685800" y="3703320"/>
            <a:ext cx="4526280" cy="1188720"/>
          </a:xfrm>
          <a:prstGeom prst="roundRect">
            <a:avLst>
              <a:gd name="adj" fmla="val 7692"/>
            </a:avLst>
          </a:prstGeom>
          <a:solidFill>
            <a:srgbClr val="E6E0FA"/>
          </a:solidFill>
          <a:ln w="12700">
            <a:solidFill>
              <a:srgbClr val="E6E0FA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22960" y="3767328"/>
            <a:ext cx="4251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A4B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WORKER  (untrusted · bwrap sandbox)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822960" y="4032504"/>
            <a:ext cx="425196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adapter: Claude SDK │ codex exec │ agy -p │ native loop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role · one episode · fresh session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provider key · no fs writes · egress = model broker only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685800" y="5166360"/>
            <a:ext cx="2194560" cy="566928"/>
          </a:xfrm>
          <a:prstGeom prst="roundRect">
            <a:avLst>
              <a:gd name="adj" fmla="val 16129"/>
            </a:avLst>
          </a:prstGeom>
          <a:solidFill>
            <a:srgbClr val="F1F4F7"/>
          </a:solidFill>
          <a:ln w="12700">
            <a:solidFill>
              <a:srgbClr val="F1F4F7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822960" y="523036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Episode store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822960" y="5495544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endpoints · append-only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3017520" y="5166360"/>
            <a:ext cx="2194560" cy="566928"/>
          </a:xfrm>
          <a:prstGeom prst="roundRect">
            <a:avLst>
              <a:gd name="adj" fmla="val 16129"/>
            </a:avLst>
          </a:prstGeom>
          <a:solidFill>
            <a:srgbClr val="F1F4F7"/>
          </a:solidFill>
          <a:ln w="12700">
            <a:solidFill>
              <a:srgbClr val="F1F4F7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3154680" y="523036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Policy bundles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3154680" y="5495544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immutable · hash-addressed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685800" y="5806440"/>
            <a:ext cx="4526280" cy="457200"/>
          </a:xfrm>
          <a:prstGeom prst="roundRect">
            <a:avLst>
              <a:gd name="adj" fmla="val 20000"/>
            </a:avLst>
          </a:prstGeom>
          <a:solidFill>
            <a:srgbClr val="F1F4F7"/>
          </a:solidFill>
          <a:ln w="12700">
            <a:solidFill>
              <a:srgbClr val="F1F4F7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822960" y="5870448"/>
            <a:ext cx="4251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Verifier — only writer of `resolved`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2948940" y="2441448"/>
            <a:ext cx="914" cy="256032"/>
          </a:xfrm>
          <a:prstGeom prst="line">
            <a:avLst/>
          </a:prstGeom>
          <a:noFill/>
          <a:ln w="19050">
            <a:solidFill>
              <a:srgbClr val="0E9E8A"/>
            </a:solidFill>
            <a:prstDash val="solid"/>
            <a:tailEnd type="triangle"/>
          </a:ln>
        </p:spPr>
      </p:sp>
      <p:sp>
        <p:nvSpPr>
          <p:cNvPr id="24" name="Shape 22"/>
          <p:cNvSpPr/>
          <p:nvPr/>
        </p:nvSpPr>
        <p:spPr>
          <a:xfrm>
            <a:off x="2948940" y="3429000"/>
            <a:ext cx="914" cy="274320"/>
          </a:xfrm>
          <a:prstGeom prst="line">
            <a:avLst/>
          </a:prstGeom>
          <a:noFill/>
          <a:ln w="19050">
            <a:solidFill>
              <a:srgbClr val="0E9E8A"/>
            </a:solidFill>
            <a:prstDash val="solid"/>
            <a:tailEnd type="triangle"/>
          </a:ln>
        </p:spPr>
      </p:sp>
      <p:sp>
        <p:nvSpPr>
          <p:cNvPr id="25" name="Text 23"/>
          <p:cNvSpPr txBox="1"/>
          <p:nvPr/>
        </p:nvSpPr>
        <p:spPr>
          <a:xfrm>
            <a:off x="3040380" y="3438144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fork/exec per step</a:t>
            </a:r>
            <a:endParaRPr lang="en-US" sz="950" dirty="0"/>
          </a:p>
        </p:txBody>
      </p:sp>
      <p:sp>
        <p:nvSpPr>
          <p:cNvPr id="26" name="Text 24"/>
          <p:cNvSpPr txBox="1"/>
          <p:nvPr/>
        </p:nvSpPr>
        <p:spPr>
          <a:xfrm>
            <a:off x="5669280" y="1572768"/>
            <a:ext cx="2606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5B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CAPABILITY BROKERS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5669280" y="1874520"/>
            <a:ext cx="2606040" cy="566928"/>
          </a:xfrm>
          <a:prstGeom prst="roundRect">
            <a:avLst>
              <a:gd name="adj" fmla="val 16129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5806440" y="1938528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episode-broker</a:t>
            </a:r>
            <a:endParaRPr lang="en-US" sz="1200" dirty="0"/>
          </a:p>
        </p:txBody>
      </p:sp>
      <p:sp>
        <p:nvSpPr>
          <p:cNvPr id="29" name="Text 27"/>
          <p:cNvSpPr txBox="1"/>
          <p:nvPr/>
        </p:nvSpPr>
        <p:spPr>
          <a:xfrm>
            <a:off x="5806440" y="2203704"/>
            <a:ext cx="2331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appends only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5669280" y="2651760"/>
            <a:ext cx="2606040" cy="566928"/>
          </a:xfrm>
          <a:prstGeom prst="roundRect">
            <a:avLst>
              <a:gd name="adj" fmla="val 16129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5806440" y="2715768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report-broker</a:t>
            </a:r>
            <a:endParaRPr lang="en-US" sz="1200" dirty="0"/>
          </a:p>
        </p:txBody>
      </p:sp>
      <p:sp>
        <p:nvSpPr>
          <p:cNvPr id="32" name="Text 30"/>
          <p:cNvSpPr txBox="1"/>
          <p:nvPr/>
        </p:nvSpPr>
        <p:spPr>
          <a:xfrm>
            <a:off x="5806440" y="2980944"/>
            <a:ext cx="2331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reports + alert sink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5669280" y="3429000"/>
            <a:ext cx="2606040" cy="566928"/>
          </a:xfrm>
          <a:prstGeom prst="roundRect">
            <a:avLst>
              <a:gd name="adj" fmla="val 16129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5806440" y="3493008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observer-broker</a:t>
            </a:r>
            <a:endParaRPr lang="en-US" sz="1200" dirty="0"/>
          </a:p>
        </p:txBody>
      </p:sp>
      <p:sp>
        <p:nvSpPr>
          <p:cNvPr id="35" name="Text 33"/>
          <p:cNvSpPr txBox="1"/>
          <p:nvPr/>
        </p:nvSpPr>
        <p:spPr>
          <a:xfrm>
            <a:off x="5806440" y="3758184"/>
            <a:ext cx="2331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allowlist + rate limit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5669280" y="4206240"/>
            <a:ext cx="2606040" cy="566928"/>
          </a:xfrm>
          <a:prstGeom prst="roundRect">
            <a:avLst>
              <a:gd name="adj" fmla="val 16129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5806440" y="4270248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audit-sequencer</a:t>
            </a:r>
            <a:endParaRPr lang="en-US" sz="1200" dirty="0"/>
          </a:p>
        </p:txBody>
      </p:sp>
      <p:sp>
        <p:nvSpPr>
          <p:cNvPr id="38" name="Text 36"/>
          <p:cNvSpPr txBox="1"/>
          <p:nvPr/>
        </p:nvSpPr>
        <p:spPr>
          <a:xfrm>
            <a:off x="5806440" y="4535424"/>
            <a:ext cx="2331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sole chain writer</a:t>
            </a:r>
            <a:endParaRPr lang="en-US" sz="1050" dirty="0"/>
          </a:p>
        </p:txBody>
      </p:sp>
      <p:sp>
        <p:nvSpPr>
          <p:cNvPr id="39" name="Shape 37"/>
          <p:cNvSpPr/>
          <p:nvPr/>
        </p:nvSpPr>
        <p:spPr>
          <a:xfrm>
            <a:off x="5669280" y="4983480"/>
            <a:ext cx="2606040" cy="566928"/>
          </a:xfrm>
          <a:prstGeom prst="roundRect">
            <a:avLst>
              <a:gd name="adj" fmla="val 16129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0" name="Text 38"/>
          <p:cNvSpPr txBox="1"/>
          <p:nvPr/>
        </p:nvSpPr>
        <p:spPr>
          <a:xfrm>
            <a:off x="5806440" y="5047488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model-broker</a:t>
            </a:r>
            <a:endParaRPr lang="en-US" sz="1200" dirty="0"/>
          </a:p>
        </p:txBody>
      </p:sp>
      <p:sp>
        <p:nvSpPr>
          <p:cNvPr id="41" name="Text 39"/>
          <p:cNvSpPr txBox="1"/>
          <p:nvPr/>
        </p:nvSpPr>
        <p:spPr>
          <a:xfrm>
            <a:off x="5806440" y="5312664"/>
            <a:ext cx="2331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sole key holder · limits</a:t>
            </a:r>
            <a:endParaRPr lang="en-US" sz="1050" dirty="0"/>
          </a:p>
        </p:txBody>
      </p:sp>
      <p:sp>
        <p:nvSpPr>
          <p:cNvPr id="42" name="Shape 40"/>
          <p:cNvSpPr/>
          <p:nvPr/>
        </p:nvSpPr>
        <p:spPr>
          <a:xfrm>
            <a:off x="5596128" y="1828800"/>
            <a:ext cx="2752344" cy="3794760"/>
          </a:xfrm>
          <a:prstGeom prst="roundRect">
            <a:avLst>
              <a:gd name="adj" fmla="val 3322"/>
            </a:avLst>
          </a:prstGeom>
          <a:ln w="9525">
            <a:solidFill>
              <a:srgbClr val="5B6675"/>
            </a:solidFill>
            <a:prstDash val="dash"/>
          </a:ln>
        </p:spPr>
      </p:sp>
      <p:sp>
        <p:nvSpPr>
          <p:cNvPr id="43" name="Shape 41"/>
          <p:cNvSpPr/>
          <p:nvPr/>
        </p:nvSpPr>
        <p:spPr>
          <a:xfrm>
            <a:off x="5212080" y="4297680"/>
            <a:ext cx="384048" cy="914"/>
          </a:xfrm>
          <a:prstGeom prst="line">
            <a:avLst/>
          </a:prstGeom>
          <a:noFill/>
          <a:ln w="19050">
            <a:solidFill>
              <a:srgbClr val="6A4BD1"/>
            </a:solidFill>
            <a:prstDash val="solid"/>
            <a:tailEnd type="triangle"/>
          </a:ln>
        </p:spPr>
      </p:sp>
      <p:sp>
        <p:nvSpPr>
          <p:cNvPr id="44" name="Text 42"/>
          <p:cNvSpPr txBox="1"/>
          <p:nvPr/>
        </p:nvSpPr>
        <p:spPr>
          <a:xfrm>
            <a:off x="5239512" y="4352544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A4B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UDS +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6A4B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</a:t>
            </a:r>
            <a:endParaRPr lang="en-US" sz="850" dirty="0"/>
          </a:p>
        </p:txBody>
      </p:sp>
      <p:sp>
        <p:nvSpPr>
          <p:cNvPr id="45" name="Shape 43"/>
          <p:cNvSpPr/>
          <p:nvPr/>
        </p:nvSpPr>
        <p:spPr>
          <a:xfrm>
            <a:off x="8915400" y="2331720"/>
            <a:ext cx="2834640" cy="1691640"/>
          </a:xfrm>
          <a:prstGeom prst="roundRect">
            <a:avLst>
              <a:gd name="adj" fmla="val 5405"/>
            </a:avLst>
          </a:prstGeom>
          <a:solidFill>
            <a:srgbClr val="F1F4F7"/>
          </a:solidFill>
          <a:ln w="12700">
            <a:solidFill>
              <a:srgbClr val="F1F4F7"/>
            </a:solidFill>
            <a:prstDash val="solid"/>
          </a:ln>
        </p:spPr>
      </p:sp>
      <p:sp>
        <p:nvSpPr>
          <p:cNvPr id="46" name="Text 44"/>
          <p:cNvSpPr txBox="1"/>
          <p:nvPr/>
        </p:nvSpPr>
        <p:spPr>
          <a:xfrm>
            <a:off x="9052560" y="2395728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VALIDATOR HOST</a:t>
            </a:r>
            <a:endParaRPr lang="en-US" sz="1200" dirty="0"/>
          </a:p>
        </p:txBody>
      </p:sp>
      <p:sp>
        <p:nvSpPr>
          <p:cNvPr id="47" name="Text 45"/>
          <p:cNvSpPr txBox="1"/>
          <p:nvPr/>
        </p:nvSpPr>
        <p:spPr>
          <a:xfrm>
            <a:off x="9052560" y="2679192"/>
            <a:ext cx="25603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Observer daemon (user valops, no keys)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read-only command table by id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concurrency 1 · rate limits · cgroup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hash chain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agave-validator (user sol) · no executor</a:t>
            </a:r>
            <a:endParaRPr lang="en-US" sz="1050" dirty="0"/>
          </a:p>
        </p:txBody>
      </p:sp>
      <p:sp>
        <p:nvSpPr>
          <p:cNvPr id="48" name="Shape 46"/>
          <p:cNvSpPr/>
          <p:nvPr/>
        </p:nvSpPr>
        <p:spPr>
          <a:xfrm>
            <a:off x="8915400" y="4160520"/>
            <a:ext cx="2834640" cy="640080"/>
          </a:xfrm>
          <a:prstGeom prst="roundRect">
            <a:avLst>
              <a:gd name="adj" fmla="val 14286"/>
            </a:avLst>
          </a:prstGeom>
          <a:solidFill>
            <a:srgbClr val="FBEBD2"/>
          </a:solidFill>
          <a:ln w="12700">
            <a:solidFill>
              <a:srgbClr val="FBEBD2"/>
            </a:solidFill>
            <a:prstDash val="solid"/>
          </a:ln>
        </p:spPr>
      </p:sp>
      <p:sp>
        <p:nvSpPr>
          <p:cNvPr id="49" name="Text 47"/>
          <p:cNvSpPr txBox="1"/>
          <p:nvPr/>
        </p:nvSpPr>
        <p:spPr>
          <a:xfrm>
            <a:off x="9052560" y="4224528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982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External anchor (WORM)</a:t>
            </a:r>
            <a:endParaRPr lang="en-US" sz="1200" dirty="0"/>
          </a:p>
        </p:txBody>
      </p:sp>
      <p:sp>
        <p:nvSpPr>
          <p:cNvPr id="50" name="Text 48"/>
          <p:cNvSpPr txBox="1"/>
          <p:nvPr/>
        </p:nvSpPr>
        <p:spPr>
          <a:xfrm>
            <a:off x="9052560" y="4507992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signed chain heads, off-host</a:t>
            </a:r>
            <a:endParaRPr lang="en-US" sz="1050" dirty="0"/>
          </a:p>
        </p:txBody>
      </p:sp>
      <p:sp>
        <p:nvSpPr>
          <p:cNvPr id="51" name="Shape 49"/>
          <p:cNvSpPr/>
          <p:nvPr/>
        </p:nvSpPr>
        <p:spPr>
          <a:xfrm>
            <a:off x="8915400" y="4937760"/>
            <a:ext cx="2834640" cy="640080"/>
          </a:xfrm>
          <a:prstGeom prst="roundRect">
            <a:avLst>
              <a:gd name="adj" fmla="val 14286"/>
            </a:avLst>
          </a:prstGeom>
          <a:solidFill>
            <a:srgbClr val="E6E0FA"/>
          </a:solidFill>
          <a:ln w="12700">
            <a:solidFill>
              <a:srgbClr val="E6E0FA"/>
            </a:solidFill>
            <a:prstDash val="solid"/>
          </a:ln>
        </p:spPr>
      </p:sp>
      <p:sp>
        <p:nvSpPr>
          <p:cNvPr id="52" name="Text 50"/>
          <p:cNvSpPr txBox="1"/>
          <p:nvPr/>
        </p:nvSpPr>
        <p:spPr>
          <a:xfrm>
            <a:off x="9052560" y="5001768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A4B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Anthropic · OpenAI · Google</a:t>
            </a:r>
            <a:endParaRPr lang="en-US" sz="1200" dirty="0"/>
          </a:p>
        </p:txBody>
      </p:sp>
      <p:sp>
        <p:nvSpPr>
          <p:cNvPr id="53" name="Text 51"/>
          <p:cNvSpPr txBox="1"/>
          <p:nvPr/>
        </p:nvSpPr>
        <p:spPr>
          <a:xfrm>
            <a:off x="9052560" y="5285232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bound configuration only</a:t>
            </a:r>
            <a:endParaRPr lang="en-US" sz="1050" dirty="0"/>
          </a:p>
        </p:txBody>
      </p:sp>
      <p:sp>
        <p:nvSpPr>
          <p:cNvPr id="54" name="Shape 52"/>
          <p:cNvSpPr/>
          <p:nvPr/>
        </p:nvSpPr>
        <p:spPr>
          <a:xfrm>
            <a:off x="8275320" y="3712464"/>
            <a:ext cx="640080" cy="914"/>
          </a:xfrm>
          <a:prstGeom prst="line">
            <a:avLst/>
          </a:prstGeom>
          <a:noFill/>
          <a:ln w="19050">
            <a:solidFill>
              <a:srgbClr val="0F1720"/>
            </a:solidFill>
            <a:prstDash val="solid"/>
            <a:tailEnd type="triangle"/>
          </a:ln>
        </p:spPr>
      </p:sp>
      <p:sp>
        <p:nvSpPr>
          <p:cNvPr id="55" name="Text 53"/>
          <p:cNvSpPr txBox="1"/>
          <p:nvPr/>
        </p:nvSpPr>
        <p:spPr>
          <a:xfrm>
            <a:off x="8366760" y="3429000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mTLS</a:t>
            </a:r>
            <a:endParaRPr lang="en-US" sz="950" dirty="0"/>
          </a:p>
        </p:txBody>
      </p:sp>
      <p:sp>
        <p:nvSpPr>
          <p:cNvPr id="56" name="Shape 54"/>
          <p:cNvSpPr/>
          <p:nvPr/>
        </p:nvSpPr>
        <p:spPr>
          <a:xfrm>
            <a:off x="8275320" y="4489704"/>
            <a:ext cx="640080" cy="914"/>
          </a:xfrm>
          <a:prstGeom prst="line">
            <a:avLst/>
          </a:prstGeom>
          <a:noFill/>
          <a:ln w="19050">
            <a:solidFill>
              <a:srgbClr val="C9821C"/>
            </a:solidFill>
            <a:prstDash val="solid"/>
            <a:tailEnd type="triangle"/>
          </a:ln>
        </p:spPr>
      </p:sp>
      <p:sp>
        <p:nvSpPr>
          <p:cNvPr id="57" name="Shape 55"/>
          <p:cNvSpPr/>
          <p:nvPr/>
        </p:nvSpPr>
        <p:spPr>
          <a:xfrm>
            <a:off x="8275320" y="5266944"/>
            <a:ext cx="640080" cy="914"/>
          </a:xfrm>
          <a:prstGeom prst="line">
            <a:avLst/>
          </a:prstGeom>
          <a:noFill/>
          <a:ln w="19050">
            <a:solidFill>
              <a:srgbClr val="6A4BD1"/>
            </a:solidFill>
            <a:prstDash val="solid"/>
            <a:tailEnd type="triangle"/>
          </a:ln>
        </p:spPr>
      </p:sp>
      <p:sp>
        <p:nvSpPr>
          <p:cNvPr id="58" name="Text 56"/>
          <p:cNvSpPr txBox="1"/>
          <p:nvPr/>
        </p:nvSpPr>
        <p:spPr>
          <a:xfrm>
            <a:off x="8915400" y="5715000"/>
            <a:ext cx="2834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5B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full worker compromise yields only the tool surface its token already permits, for one episode, until the token expires.</a:t>
            </a:r>
            <a:endParaRPr lang="en-US" sz="1050" dirty="0"/>
          </a:p>
        </p:txBody>
      </p:sp>
      <p:sp>
        <p:nvSpPr>
          <p:cNvPr id="59" name="Text 57"/>
          <p:cNvSpPr txBox="1"/>
          <p:nvPr/>
        </p:nvSpPr>
        <p:spPr>
          <a:xfrm>
            <a:off x="548640" y="6446520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HLD §4.1–§4.3 · Plan §4.2 · N-1/N-2 (5 store endpoints), N-3 (bind-mounted sockets)</a:t>
            </a:r>
            <a:endParaRPr lang="en-US" sz="900" dirty="0"/>
          </a:p>
        </p:txBody>
      </p:sp>
      <p:sp>
        <p:nvSpPr>
          <p:cNvPr id="60" name="Text 58"/>
          <p:cNvSpPr txBox="1"/>
          <p:nvPr/>
        </p:nvSpPr>
        <p:spPr>
          <a:xfrm>
            <a:off x="1115568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17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episode, end to end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87552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5B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fresh session per step; the controller validates each step's artefact before it advances state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1417320" cy="1737360"/>
          </a:xfrm>
          <a:prstGeom prst="roundRect">
            <a:avLst>
              <a:gd name="adj" fmla="val 6452"/>
            </a:avLst>
          </a:prstGeom>
          <a:solidFill>
            <a:srgbClr val="D7F2EC"/>
          </a:solidFill>
          <a:ln w="12700">
            <a:solidFill>
              <a:srgbClr val="D7F2EC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85800" y="1892808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E9E8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200" dirty="0"/>
          </a:p>
        </p:txBody>
      </p:sp>
      <p:sp>
        <p:nvSpPr>
          <p:cNvPr id="6" name="Text 4"/>
          <p:cNvSpPr txBox="1"/>
          <p:nvPr/>
        </p:nvSpPr>
        <p:spPr>
          <a:xfrm>
            <a:off x="685800" y="2331720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Sentinel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685800" y="2670048"/>
            <a:ext cx="1188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detects; opens episode, binds bundle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1984248" y="2651760"/>
            <a:ext cx="146304" cy="914"/>
          </a:xfrm>
          <a:prstGeom prst="line">
            <a:avLst/>
          </a:prstGeom>
          <a:noFill/>
          <a:ln w="15875">
            <a:solidFill>
              <a:srgbClr val="5B6675"/>
            </a:solidFill>
            <a:prstDash val="solid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2148840" y="1783080"/>
            <a:ext cx="1417320" cy="1737360"/>
          </a:xfrm>
          <a:prstGeom prst="roundRect">
            <a:avLst>
              <a:gd name="adj" fmla="val 6452"/>
            </a:avLst>
          </a:prstGeom>
          <a:solidFill>
            <a:srgbClr val="E6E0FA"/>
          </a:solidFill>
          <a:ln w="12700">
            <a:solidFill>
              <a:srgbClr val="E6E0FA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2286000" y="1892808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6A4BD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200" dirty="0"/>
          </a:p>
        </p:txBody>
      </p:sp>
      <p:sp>
        <p:nvSpPr>
          <p:cNvPr id="11" name="Text 9"/>
          <p:cNvSpPr txBox="1"/>
          <p:nvPr/>
        </p:nvSpPr>
        <p:spPr>
          <a:xfrm>
            <a:off x="2286000" y="2331720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Diagnostician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2286000" y="2670048"/>
            <a:ext cx="1188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ranked, falsifiable hypotheses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584448" y="2651760"/>
            <a:ext cx="146304" cy="914"/>
          </a:xfrm>
          <a:prstGeom prst="line">
            <a:avLst/>
          </a:prstGeom>
          <a:noFill/>
          <a:ln w="15875">
            <a:solidFill>
              <a:srgbClr val="5B6675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3749040" y="1783080"/>
            <a:ext cx="1417320" cy="1737360"/>
          </a:xfrm>
          <a:prstGeom prst="roundRect">
            <a:avLst>
              <a:gd name="adj" fmla="val 6452"/>
            </a:avLst>
          </a:prstGeom>
          <a:solidFill>
            <a:srgbClr val="E6E0FA"/>
          </a:solidFill>
          <a:ln w="12700">
            <a:solidFill>
              <a:srgbClr val="E6E0FA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3886200" y="1892808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6A4BD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200" dirty="0"/>
          </a:p>
        </p:txBody>
      </p:sp>
      <p:sp>
        <p:nvSpPr>
          <p:cNvPr id="16" name="Text 14"/>
          <p:cNvSpPr txBox="1"/>
          <p:nvPr/>
        </p:nvSpPr>
        <p:spPr>
          <a:xfrm>
            <a:off x="3886200" y="2331720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Change-planner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3886200" y="2670048"/>
            <a:ext cx="1188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 or no-action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5184648" y="2651760"/>
            <a:ext cx="146304" cy="914"/>
          </a:xfrm>
          <a:prstGeom prst="line">
            <a:avLst/>
          </a:prstGeom>
          <a:noFill/>
          <a:ln w="15875">
            <a:solidFill>
              <a:srgbClr val="5B6675"/>
            </a:solidFill>
            <a:prstDash val="solid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5349240" y="1783080"/>
            <a:ext cx="1417320" cy="1737360"/>
          </a:xfrm>
          <a:prstGeom prst="roundRect">
            <a:avLst>
              <a:gd name="adj" fmla="val 6452"/>
            </a:avLst>
          </a:prstGeom>
          <a:solidFill>
            <a:srgbClr val="E6E0FA"/>
          </a:solidFill>
          <a:ln w="12700">
            <a:solidFill>
              <a:srgbClr val="E6E0FA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5486400" y="1892808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6A4BD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200" dirty="0"/>
          </a:p>
        </p:txBody>
      </p:sp>
      <p:sp>
        <p:nvSpPr>
          <p:cNvPr id="21" name="Text 19"/>
          <p:cNvSpPr txBox="1"/>
          <p:nvPr/>
        </p:nvSpPr>
        <p:spPr>
          <a:xfrm>
            <a:off x="5486400" y="2331720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Proposal-judge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5486400" y="2670048"/>
            <a:ext cx="1188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 / FAIL, isolated inputs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784848" y="2651760"/>
            <a:ext cx="146304" cy="914"/>
          </a:xfrm>
          <a:prstGeom prst="line">
            <a:avLst/>
          </a:prstGeom>
          <a:noFill/>
          <a:ln w="15875">
            <a:solidFill>
              <a:srgbClr val="5B6675"/>
            </a:solidFill>
            <a:prstDash val="solid"/>
            <a:tailEnd type="triangle"/>
          </a:ln>
        </p:spPr>
      </p:sp>
      <p:sp>
        <p:nvSpPr>
          <p:cNvPr id="24" name="Shape 22"/>
          <p:cNvSpPr/>
          <p:nvPr/>
        </p:nvSpPr>
        <p:spPr>
          <a:xfrm>
            <a:off x="6949440" y="1783080"/>
            <a:ext cx="1417320" cy="1737360"/>
          </a:xfrm>
          <a:prstGeom prst="roundRect">
            <a:avLst>
              <a:gd name="adj" fmla="val 6452"/>
            </a:avLst>
          </a:prstGeom>
          <a:solidFill>
            <a:srgbClr val="E6E0FA"/>
          </a:solidFill>
          <a:ln w="12700">
            <a:solidFill>
              <a:srgbClr val="E6E0FA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7086600" y="1892808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6A4BD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2200" dirty="0"/>
          </a:p>
        </p:txBody>
      </p:sp>
      <p:sp>
        <p:nvSpPr>
          <p:cNvPr id="26" name="Text 24"/>
          <p:cNvSpPr txBox="1"/>
          <p:nvPr/>
        </p:nvSpPr>
        <p:spPr>
          <a:xfrm>
            <a:off x="7086600" y="2331720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Reporter</a:t>
            </a:r>
            <a:endParaRPr lang="en-US" sz="1300" dirty="0"/>
          </a:p>
        </p:txBody>
      </p:sp>
      <p:sp>
        <p:nvSpPr>
          <p:cNvPr id="27" name="Text 25"/>
          <p:cNvSpPr txBox="1"/>
          <p:nvPr/>
        </p:nvSpPr>
        <p:spPr>
          <a:xfrm>
            <a:off x="7086600" y="2670048"/>
            <a:ext cx="1188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 + one alert (AW-2)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8385048" y="2651760"/>
            <a:ext cx="146304" cy="914"/>
          </a:xfrm>
          <a:prstGeom prst="line">
            <a:avLst/>
          </a:prstGeom>
          <a:noFill/>
          <a:ln w="15875">
            <a:solidFill>
              <a:srgbClr val="5B6675"/>
            </a:solidFill>
            <a:prstDash val="solid"/>
            <a:tailEnd type="triangle"/>
          </a:ln>
        </p:spPr>
      </p:sp>
      <p:sp>
        <p:nvSpPr>
          <p:cNvPr id="29" name="Shape 27"/>
          <p:cNvSpPr/>
          <p:nvPr/>
        </p:nvSpPr>
        <p:spPr>
          <a:xfrm>
            <a:off x="8549640" y="1783080"/>
            <a:ext cx="1417320" cy="1737360"/>
          </a:xfrm>
          <a:prstGeom prst="roundRect">
            <a:avLst>
              <a:gd name="adj" fmla="val 6452"/>
            </a:avLst>
          </a:prstGeom>
          <a:solidFill>
            <a:srgbClr val="FBEBD2"/>
          </a:solidFill>
          <a:ln w="12700">
            <a:solidFill>
              <a:srgbClr val="FBEBD2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8686800" y="1892808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982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2200" dirty="0"/>
          </a:p>
        </p:txBody>
      </p:sp>
      <p:sp>
        <p:nvSpPr>
          <p:cNvPr id="31" name="Text 29"/>
          <p:cNvSpPr txBox="1"/>
          <p:nvPr/>
        </p:nvSpPr>
        <p:spPr>
          <a:xfrm>
            <a:off x="8686800" y="2331720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Operator</a:t>
            </a:r>
            <a:endParaRPr lang="en-US" sz="1300" dirty="0"/>
          </a:p>
        </p:txBody>
      </p:sp>
      <p:sp>
        <p:nvSpPr>
          <p:cNvPr id="32" name="Text 30"/>
          <p:cNvSpPr txBox="1"/>
          <p:nvPr/>
        </p:nvSpPr>
        <p:spPr>
          <a:xfrm>
            <a:off x="8686800" y="2670048"/>
            <a:ext cx="1188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acks, acts by hand, scores rubric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9985248" y="2651760"/>
            <a:ext cx="146304" cy="914"/>
          </a:xfrm>
          <a:prstGeom prst="line">
            <a:avLst/>
          </a:prstGeom>
          <a:noFill/>
          <a:ln w="15875">
            <a:solidFill>
              <a:srgbClr val="5B6675"/>
            </a:solidFill>
            <a:prstDash val="solid"/>
            <a:tailEnd type="triangle"/>
          </a:ln>
        </p:spPr>
      </p:sp>
      <p:sp>
        <p:nvSpPr>
          <p:cNvPr id="34" name="Shape 32"/>
          <p:cNvSpPr/>
          <p:nvPr/>
        </p:nvSpPr>
        <p:spPr>
          <a:xfrm>
            <a:off x="10149840" y="1783080"/>
            <a:ext cx="1417320" cy="1737360"/>
          </a:xfrm>
          <a:prstGeom prst="roundRect">
            <a:avLst>
              <a:gd name="adj" fmla="val 6452"/>
            </a:avLst>
          </a:prstGeom>
          <a:solidFill>
            <a:srgbClr val="D7F2EC"/>
          </a:solidFill>
          <a:ln w="12700">
            <a:solidFill>
              <a:srgbClr val="D7F2EC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10287000" y="1892808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E9E8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2200" dirty="0"/>
          </a:p>
        </p:txBody>
      </p:sp>
      <p:sp>
        <p:nvSpPr>
          <p:cNvPr id="36" name="Text 34"/>
          <p:cNvSpPr txBox="1"/>
          <p:nvPr/>
        </p:nvSpPr>
        <p:spPr>
          <a:xfrm>
            <a:off x="10287000" y="2331720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Verifier</a:t>
            </a:r>
            <a:endParaRPr lang="en-US" sz="1300" dirty="0"/>
          </a:p>
        </p:txBody>
      </p:sp>
      <p:sp>
        <p:nvSpPr>
          <p:cNvPr id="37" name="Text 35"/>
          <p:cNvSpPr txBox="1"/>
          <p:nvPr/>
        </p:nvSpPr>
        <p:spPr>
          <a:xfrm>
            <a:off x="10287000" y="2670048"/>
            <a:ext cx="1188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confirms recovery → resolved + closure report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548640" y="3703320"/>
            <a:ext cx="256032" cy="201168"/>
          </a:xfrm>
          <a:prstGeom prst="roundRect">
            <a:avLst>
              <a:gd name="adj" fmla="val 22727"/>
            </a:avLst>
          </a:prstGeom>
          <a:solidFill>
            <a:srgbClr val="0E9E8A"/>
          </a:solidFill>
          <a:ln w="12700">
            <a:solidFill>
              <a:srgbClr val="0E9E8A"/>
            </a:solidFill>
            <a:prstDash val="solid"/>
          </a:ln>
        </p:spPr>
      </p:sp>
      <p:sp>
        <p:nvSpPr>
          <p:cNvPr id="39" name="Text 37"/>
          <p:cNvSpPr txBox="1"/>
          <p:nvPr/>
        </p:nvSpPr>
        <p:spPr>
          <a:xfrm>
            <a:off x="896112" y="3657600"/>
            <a:ext cx="1645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Deterministic</a:t>
            </a:r>
            <a:endParaRPr lang="en-US" sz="1200" dirty="0"/>
          </a:p>
        </p:txBody>
      </p:sp>
      <p:sp>
        <p:nvSpPr>
          <p:cNvPr id="40" name="Shape 38"/>
          <p:cNvSpPr/>
          <p:nvPr/>
        </p:nvSpPr>
        <p:spPr>
          <a:xfrm>
            <a:off x="2651760" y="3703320"/>
            <a:ext cx="256032" cy="201168"/>
          </a:xfrm>
          <a:prstGeom prst="roundRect">
            <a:avLst>
              <a:gd name="adj" fmla="val 22727"/>
            </a:avLst>
          </a:prstGeom>
          <a:solidFill>
            <a:srgbClr val="6A4BD1"/>
          </a:solidFill>
          <a:ln w="12700">
            <a:solidFill>
              <a:srgbClr val="6A4BD1"/>
            </a:solidFill>
            <a:prstDash val="solid"/>
          </a:ln>
        </p:spPr>
      </p:sp>
      <p:sp>
        <p:nvSpPr>
          <p:cNvPr id="41" name="Text 39"/>
          <p:cNvSpPr txBox="1"/>
          <p:nvPr/>
        </p:nvSpPr>
        <p:spPr>
          <a:xfrm>
            <a:off x="2999232" y="3657600"/>
            <a:ext cx="1645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role session</a:t>
            </a:r>
            <a:endParaRPr lang="en-US" sz="1200" dirty="0"/>
          </a:p>
        </p:txBody>
      </p:sp>
      <p:sp>
        <p:nvSpPr>
          <p:cNvPr id="42" name="Shape 40"/>
          <p:cNvSpPr/>
          <p:nvPr/>
        </p:nvSpPr>
        <p:spPr>
          <a:xfrm>
            <a:off x="4754880" y="3703320"/>
            <a:ext cx="256032" cy="201168"/>
          </a:xfrm>
          <a:prstGeom prst="roundRect">
            <a:avLst>
              <a:gd name="adj" fmla="val 22727"/>
            </a:avLst>
          </a:prstGeom>
          <a:solidFill>
            <a:srgbClr val="C9821C"/>
          </a:solidFill>
          <a:ln w="12700">
            <a:solidFill>
              <a:srgbClr val="C9821C"/>
            </a:solidFill>
            <a:prstDash val="solid"/>
          </a:ln>
        </p:spPr>
      </p:sp>
      <p:sp>
        <p:nvSpPr>
          <p:cNvPr id="43" name="Text 41"/>
          <p:cNvSpPr txBox="1"/>
          <p:nvPr/>
        </p:nvSpPr>
        <p:spPr>
          <a:xfrm>
            <a:off x="5102352" y="3657600"/>
            <a:ext cx="1645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</a:t>
            </a:r>
            <a:endParaRPr lang="en-US" sz="1200" dirty="0"/>
          </a:p>
        </p:txBody>
      </p:sp>
      <p:sp>
        <p:nvSpPr>
          <p:cNvPr id="44" name="Shape 42"/>
          <p:cNvSpPr/>
          <p:nvPr/>
        </p:nvSpPr>
        <p:spPr>
          <a:xfrm>
            <a:off x="548640" y="4206240"/>
            <a:ext cx="3566160" cy="2011680"/>
          </a:xfrm>
          <a:prstGeom prst="roundRect">
            <a:avLst>
              <a:gd name="adj" fmla="val 4545"/>
            </a:avLst>
          </a:prstGeom>
          <a:solidFill>
            <a:srgbClr val="F1F4F7"/>
          </a:solidFill>
          <a:ln w="12700">
            <a:solidFill>
              <a:srgbClr val="F1F4F7"/>
            </a:solidFill>
            <a:prstDash val="solid"/>
          </a:ln>
        </p:spPr>
      </p:sp>
      <p:sp>
        <p:nvSpPr>
          <p:cNvPr id="45" name="Text 43"/>
          <p:cNvSpPr txBox="1"/>
          <p:nvPr/>
        </p:nvSpPr>
        <p:spPr>
          <a:xfrm>
            <a:off x="777240" y="434340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 → hand off</a:t>
            </a:r>
            <a:endParaRPr lang="en-US" sz="1500" dirty="0"/>
          </a:p>
        </p:txBody>
      </p:sp>
      <p:sp>
        <p:nvSpPr>
          <p:cNvPr id="46" name="Text 44"/>
          <p:cNvSpPr txBox="1"/>
          <p:nvPr/>
        </p:nvSpPr>
        <p:spPr>
          <a:xfrm>
            <a:off x="777240" y="4754880"/>
            <a:ext cx="31089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artefact, schema failure, budget or retry exhausted, Judge FAIL after retry, provider outage: no action, state handed_off, human alerted.</a:t>
            </a:r>
            <a:endParaRPr lang="en-US" sz="1250" dirty="0"/>
          </a:p>
        </p:txBody>
      </p:sp>
      <p:sp>
        <p:nvSpPr>
          <p:cNvPr id="47" name="Shape 45"/>
          <p:cNvSpPr/>
          <p:nvPr/>
        </p:nvSpPr>
        <p:spPr>
          <a:xfrm>
            <a:off x="4297680" y="4206240"/>
            <a:ext cx="3566160" cy="2011680"/>
          </a:xfrm>
          <a:prstGeom prst="roundRect">
            <a:avLst>
              <a:gd name="adj" fmla="val 4545"/>
            </a:avLst>
          </a:prstGeom>
          <a:solidFill>
            <a:srgbClr val="F1F4F7"/>
          </a:solidFill>
          <a:ln w="12700">
            <a:solidFill>
              <a:srgbClr val="F1F4F7"/>
            </a:solidFill>
            <a:prstDash val="solid"/>
          </a:ln>
        </p:spPr>
      </p:sp>
      <p:sp>
        <p:nvSpPr>
          <p:cNvPr id="48" name="Text 46"/>
          <p:cNvSpPr txBox="1"/>
          <p:nvPr/>
        </p:nvSpPr>
        <p:spPr>
          <a:xfrm>
            <a:off x="4526280" y="434340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agent cannot close</a:t>
            </a:r>
            <a:endParaRPr lang="en-US" sz="1500" dirty="0"/>
          </a:p>
        </p:txBody>
      </p:sp>
      <p:sp>
        <p:nvSpPr>
          <p:cNvPr id="49" name="Text 47"/>
          <p:cNvSpPr txBox="1"/>
          <p:nvPr/>
        </p:nvSpPr>
        <p:spPr>
          <a:xfrm>
            <a:off x="4526280" y="4754880"/>
            <a:ext cx="31089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set_state(resolved) doesn't exist on any agent endpoint. Only the verifier resolves, and only from awaiting_operator.</a:t>
            </a:r>
            <a:endParaRPr lang="en-US" sz="1250" dirty="0"/>
          </a:p>
        </p:txBody>
      </p:sp>
      <p:sp>
        <p:nvSpPr>
          <p:cNvPr id="50" name="Shape 48"/>
          <p:cNvSpPr/>
          <p:nvPr/>
        </p:nvSpPr>
        <p:spPr>
          <a:xfrm>
            <a:off x="8046720" y="4206240"/>
            <a:ext cx="3566160" cy="2011680"/>
          </a:xfrm>
          <a:prstGeom prst="roundRect">
            <a:avLst>
              <a:gd name="adj" fmla="val 4545"/>
            </a:avLst>
          </a:prstGeom>
          <a:solidFill>
            <a:srgbClr val="F1F4F7"/>
          </a:solidFill>
          <a:ln w="12700">
            <a:solidFill>
              <a:srgbClr val="F1F4F7"/>
            </a:solidFill>
            <a:prstDash val="solid"/>
          </a:ln>
        </p:spPr>
      </p:sp>
      <p:sp>
        <p:nvSpPr>
          <p:cNvPr id="51" name="Text 49"/>
          <p:cNvSpPr txBox="1"/>
          <p:nvPr/>
        </p:nvSpPr>
        <p:spPr>
          <a:xfrm>
            <a:off x="8275320" y="434340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Consensus mode checked</a:t>
            </a:r>
            <a:endParaRPr lang="en-US" sz="1500" dirty="0"/>
          </a:p>
        </p:txBody>
      </p:sp>
      <p:sp>
        <p:nvSpPr>
          <p:cNvPr id="52" name="Text 50"/>
          <p:cNvSpPr txBox="1"/>
          <p:nvPr/>
        </p:nvSpPr>
        <p:spPr>
          <a:xfrm>
            <a:off x="8275320" y="4754880"/>
            <a:ext cx="31089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declared mode is cross-checked against version, feature state and state files. Any disagreement → unknown, and mode-specific advice is refused.</a:t>
            </a:r>
            <a:endParaRPr lang="en-US" sz="1250" dirty="0"/>
          </a:p>
        </p:txBody>
      </p:sp>
      <p:sp>
        <p:nvSpPr>
          <p:cNvPr id="53" name="Text 51"/>
          <p:cNvSpPr txBox="1"/>
          <p:nvPr/>
        </p:nvSpPr>
        <p:spPr>
          <a:xfrm>
            <a:off x="548640" y="6446520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§2.6 AW-1…AW-6, §5.6–§5.11 · HLD §7.2 · N-4, N-5, N-7</a:t>
            </a:r>
            <a:endParaRPr lang="en-US" sz="900" dirty="0"/>
          </a:p>
        </p:txBody>
      </p:sp>
      <p:sp>
        <p:nvSpPr>
          <p:cNvPr id="54" name="Text 52"/>
          <p:cNvSpPr txBox="1"/>
          <p:nvPr/>
        </p:nvSpPr>
        <p:spPr>
          <a:xfrm>
            <a:off x="1115568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17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v0.5: three providers, one boundary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87552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5B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Runtimes are admitted by conformance tests; in-process controls are defence in depth only</a:t>
            </a:r>
            <a:endParaRPr lang="en-US" sz="15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08760"/>
          <a:ext cx="6949440" cy="914400"/>
        </p:xfrm>
        <a:graphic>
          <a:graphicData uri="http://schemas.openxmlformats.org/drawingml/2006/table">
            <a:tbl>
              <a:tblPr/>
              <a:tblGrid>
                <a:gridCol w="1737360"/>
                <a:gridCol w="1645920"/>
                <a:gridCol w="1783080"/>
                <a:gridCol w="1783080"/>
              </a:tblGrid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Claude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A4BD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Codex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A4BD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Gemini via Antigravity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A4BD1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Runtime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Agent SDK (Python)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codex exec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agy -p (headless)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Built-ins removable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 documented [U]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 documented [U]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Endpoint override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 show in W1 [U]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openai_base_url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 documented [U]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Auth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API key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API key or login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Cached login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Expected admission [H]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Runtime admitted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Runtime if built-ins inert, else native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Native-only likely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7818120" y="1508760"/>
            <a:ext cx="3794760" cy="4709160"/>
          </a:xfrm>
          <a:prstGeom prst="roundRect">
            <a:avLst>
              <a:gd name="adj" fmla="val 2410"/>
            </a:avLst>
          </a:prstGeom>
          <a:solidFill>
            <a:srgbClr val="E6E0FA"/>
          </a:solidFill>
          <a:ln w="12700">
            <a:solidFill>
              <a:srgbClr val="E6E0FA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8092440" y="1645920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6A4B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broker</a:t>
            </a:r>
            <a:endParaRPr lang="en-US" sz="1800" dirty="0"/>
          </a:p>
        </p:txBody>
      </p:sp>
      <p:sp>
        <p:nvSpPr>
          <p:cNvPr id="7" name="Text 4"/>
          <p:cNvSpPr txBox="1"/>
          <p:nvPr/>
        </p:nvSpPr>
        <p:spPr>
          <a:xfrm>
            <a:off x="8092440" y="2148840"/>
            <a:ext cx="333756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Sole holder of every provider key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worker's only network egress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allowlist per (episode, role)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Provider-neutral request, token and USD limits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Transcript of record → audit chain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(Q-6) comparable across providers</a:t>
            </a:r>
            <a:endParaRPr lang="en-US" sz="1300" dirty="0"/>
          </a:p>
        </p:txBody>
      </p:sp>
      <p:sp>
        <p:nvSpPr>
          <p:cNvPr id="8" name="Text 5"/>
          <p:cNvSpPr txBox="1"/>
          <p:nvPr/>
        </p:nvSpPr>
        <p:spPr>
          <a:xfrm>
            <a:off x="8092440" y="4846320"/>
            <a:ext cx="33375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runtime that can't be pointed at the broker isn't admitted. The native API adapter (no built-in tools) is the floor for every provider.</a:t>
            </a:r>
            <a:endParaRPr lang="en-US" sz="1200" dirty="0"/>
          </a:p>
        </p:txBody>
      </p:sp>
      <p:sp>
        <p:nvSpPr>
          <p:cNvPr id="9" name="Text 6"/>
          <p:cNvSpPr txBox="1"/>
          <p:nvPr/>
        </p:nvSpPr>
        <p:spPr>
          <a:xfrm>
            <a:off x="548640" y="4526280"/>
            <a:ext cx="6949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Admission profile PC-1 … PC-9: headless and killable · only valops tools reachable · no config discovery · no credential in the worker · inside the bwrap sandbox · MCP over stdio · no phone-home · exact pin · prompt from the bundle only.</a:t>
            </a:r>
            <a:endParaRPr lang="en-US" sz="1200" dirty="0"/>
          </a:p>
        </p:txBody>
      </p:sp>
      <p:sp>
        <p:nvSpPr>
          <p:cNvPr id="10" name="Text 7"/>
          <p:cNvSpPr txBox="1"/>
          <p:nvPr/>
        </p:nvSpPr>
        <p:spPr>
          <a:xfrm>
            <a:off x="548640" y="5440680"/>
            <a:ext cx="6949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episode is bound to one configuration. Results are never pooled across configurations, and G2 is granted per configuration.</a:t>
            </a:r>
            <a:endParaRPr lang="en-US" sz="1250" dirty="0"/>
          </a:p>
        </p:txBody>
      </p:sp>
      <p:sp>
        <p:nvSpPr>
          <p:cNvPr id="11" name="Text 8"/>
          <p:cNvSpPr txBox="1"/>
          <p:nvPr/>
        </p:nvSpPr>
        <p:spPr>
          <a:xfrm>
            <a:off x="548640" y="6446520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§5.12 · HLD §5.12, §6.5, §16.1 · D19–D22</a:t>
            </a:r>
            <a:endParaRPr lang="en-US" sz="900" dirty="0"/>
          </a:p>
        </p:txBody>
      </p:sp>
      <p:sp>
        <p:nvSpPr>
          <p:cNvPr id="12" name="Text 9"/>
          <p:cNvSpPr txBox="1"/>
          <p:nvPr/>
        </p:nvSpPr>
        <p:spPr>
          <a:xfrm>
            <a:off x="1115568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17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M0 is judged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87552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5B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Safety gates must pass 100%; model-quality gates use frozen fixtures and confidence bounds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3246120" cy="1005840"/>
          </a:xfrm>
          <a:prstGeom prst="roundRect">
            <a:avLst>
              <a:gd name="adj" fmla="val 9091"/>
            </a:avLst>
          </a:prstGeom>
          <a:solidFill>
            <a:srgbClr val="F1F4F7"/>
          </a:solidFill>
          <a:ln w="12700">
            <a:solidFill>
              <a:srgbClr val="F1F4F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1520" y="1737360"/>
            <a:ext cx="685800" cy="292608"/>
          </a:xfrm>
          <a:prstGeom prst="roundRect">
            <a:avLst>
              <a:gd name="adj" fmla="val 25000"/>
            </a:avLst>
          </a:prstGeom>
          <a:solidFill>
            <a:srgbClr val="6A4BD1"/>
          </a:solidFill>
          <a:ln w="12700">
            <a:solidFill>
              <a:srgbClr val="6A4BD1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31520" y="1737360"/>
            <a:ext cx="685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Q-1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1554480" y="1709928"/>
            <a:ext cx="2148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Diagnosis quality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1554480" y="2057400"/>
            <a:ext cx="2148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top-ranked hypothesis correct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977640" y="1554480"/>
            <a:ext cx="3246120" cy="1005840"/>
          </a:xfrm>
          <a:prstGeom prst="roundRect">
            <a:avLst>
              <a:gd name="adj" fmla="val 9091"/>
            </a:avLst>
          </a:prstGeom>
          <a:solidFill>
            <a:srgbClr val="F1F4F7"/>
          </a:solidFill>
          <a:ln w="12700">
            <a:solidFill>
              <a:srgbClr val="F1F4F7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160520" y="1737360"/>
            <a:ext cx="685800" cy="292608"/>
          </a:xfrm>
          <a:prstGeom prst="roundRect">
            <a:avLst>
              <a:gd name="adj" fmla="val 25000"/>
            </a:avLst>
          </a:prstGeom>
          <a:solidFill>
            <a:srgbClr val="6A4BD1"/>
          </a:solidFill>
          <a:ln w="12700">
            <a:solidFill>
              <a:srgbClr val="6A4BD1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160520" y="1737360"/>
            <a:ext cx="685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Q-2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983480" y="1709928"/>
            <a:ext cx="2148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Actionability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4983480" y="2057400"/>
            <a:ext cx="2148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FB-2 ∈ {1,2}; unsafe flags = 0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48640" y="2724912"/>
            <a:ext cx="3246120" cy="1005840"/>
          </a:xfrm>
          <a:prstGeom prst="roundRect">
            <a:avLst>
              <a:gd name="adj" fmla="val 9091"/>
            </a:avLst>
          </a:prstGeom>
          <a:solidFill>
            <a:srgbClr val="F1F4F7"/>
          </a:solidFill>
          <a:ln w="12700">
            <a:solidFill>
              <a:srgbClr val="F1F4F7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31520" y="2907792"/>
            <a:ext cx="685800" cy="292608"/>
          </a:xfrm>
          <a:prstGeom prst="roundRect">
            <a:avLst>
              <a:gd name="adj" fmla="val 25000"/>
            </a:avLst>
          </a:prstGeom>
          <a:solidFill>
            <a:srgbClr val="6A4BD1"/>
          </a:solidFill>
          <a:ln w="12700">
            <a:solidFill>
              <a:srgbClr val="6A4BD1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731520" y="2907792"/>
            <a:ext cx="685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Q-3</a:t>
            </a:r>
            <a:endParaRPr lang="en-US" sz="1100" dirty="0"/>
          </a:p>
        </p:txBody>
      </p:sp>
      <p:sp>
        <p:nvSpPr>
          <p:cNvPr id="17" name="Text 15"/>
          <p:cNvSpPr txBox="1"/>
          <p:nvPr/>
        </p:nvSpPr>
        <p:spPr>
          <a:xfrm>
            <a:off x="1554480" y="2880360"/>
            <a:ext cx="2148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 latency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1554480" y="3227832"/>
            <a:ext cx="2148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episode open → alert, p50 / p95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977640" y="2724912"/>
            <a:ext cx="3246120" cy="1005840"/>
          </a:xfrm>
          <a:prstGeom prst="roundRect">
            <a:avLst>
              <a:gd name="adj" fmla="val 9091"/>
            </a:avLst>
          </a:prstGeom>
          <a:solidFill>
            <a:srgbClr val="F1F4F7"/>
          </a:solidFill>
          <a:ln w="12700">
            <a:solidFill>
              <a:srgbClr val="F1F4F7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160520" y="2907792"/>
            <a:ext cx="685800" cy="292608"/>
          </a:xfrm>
          <a:prstGeom prst="roundRect">
            <a:avLst>
              <a:gd name="adj" fmla="val 25000"/>
            </a:avLst>
          </a:prstGeom>
          <a:solidFill>
            <a:srgbClr val="6A4BD1"/>
          </a:solidFill>
          <a:ln w="12700">
            <a:solidFill>
              <a:srgbClr val="6A4BD1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4160520" y="2907792"/>
            <a:ext cx="685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Q-4</a:t>
            </a:r>
            <a:endParaRPr lang="en-US" sz="1100" dirty="0"/>
          </a:p>
        </p:txBody>
      </p:sp>
      <p:sp>
        <p:nvSpPr>
          <p:cNvPr id="22" name="Text 20"/>
          <p:cNvSpPr txBox="1"/>
          <p:nvPr/>
        </p:nvSpPr>
        <p:spPr>
          <a:xfrm>
            <a:off x="4983480" y="2880360"/>
            <a:ext cx="2148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vs. watchtower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4983480" y="3227832"/>
            <a:ext cx="2148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paired reduction; lower bound &gt; 0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548640" y="3895344"/>
            <a:ext cx="3246120" cy="1005840"/>
          </a:xfrm>
          <a:prstGeom prst="roundRect">
            <a:avLst>
              <a:gd name="adj" fmla="val 9091"/>
            </a:avLst>
          </a:prstGeom>
          <a:solidFill>
            <a:srgbClr val="F1F4F7"/>
          </a:solidFill>
          <a:ln w="12700">
            <a:solidFill>
              <a:srgbClr val="F1F4F7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31520" y="4078224"/>
            <a:ext cx="685800" cy="292608"/>
          </a:xfrm>
          <a:prstGeom prst="roundRect">
            <a:avLst>
              <a:gd name="adj" fmla="val 25000"/>
            </a:avLst>
          </a:prstGeom>
          <a:solidFill>
            <a:srgbClr val="6A4BD1"/>
          </a:solidFill>
          <a:ln w="12700">
            <a:solidFill>
              <a:srgbClr val="6A4BD1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731520" y="4078224"/>
            <a:ext cx="685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Q-5</a:t>
            </a:r>
            <a:endParaRPr lang="en-US" sz="1100" dirty="0"/>
          </a:p>
        </p:txBody>
      </p:sp>
      <p:sp>
        <p:nvSpPr>
          <p:cNvPr id="27" name="Text 25"/>
          <p:cNvSpPr txBox="1"/>
          <p:nvPr/>
        </p:nvSpPr>
        <p:spPr>
          <a:xfrm>
            <a:off x="1554480" y="4050792"/>
            <a:ext cx="2148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Operator burden</a:t>
            </a:r>
            <a:endParaRPr lang="en-US" sz="1400" dirty="0"/>
          </a:p>
        </p:txBody>
      </p:sp>
      <p:sp>
        <p:nvSpPr>
          <p:cNvPr id="28" name="Text 26"/>
          <p:cNvSpPr txBox="1"/>
          <p:nvPr/>
        </p:nvSpPr>
        <p:spPr>
          <a:xfrm>
            <a:off x="1554480" y="4398264"/>
            <a:ext cx="2148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alerts/day, false-alarm share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3977640" y="3895344"/>
            <a:ext cx="3246120" cy="1005840"/>
          </a:xfrm>
          <a:prstGeom prst="roundRect">
            <a:avLst>
              <a:gd name="adj" fmla="val 9091"/>
            </a:avLst>
          </a:prstGeom>
          <a:solidFill>
            <a:srgbClr val="F1F4F7"/>
          </a:solidFill>
          <a:ln w="12700">
            <a:solidFill>
              <a:srgbClr val="F1F4F7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160520" y="4078224"/>
            <a:ext cx="685800" cy="292608"/>
          </a:xfrm>
          <a:prstGeom prst="roundRect">
            <a:avLst>
              <a:gd name="adj" fmla="val 25000"/>
            </a:avLst>
          </a:prstGeom>
          <a:solidFill>
            <a:srgbClr val="6A4BD1"/>
          </a:solidFill>
          <a:ln w="12700">
            <a:solidFill>
              <a:srgbClr val="6A4BD1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4160520" y="4078224"/>
            <a:ext cx="685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Q-6</a:t>
            </a:r>
            <a:endParaRPr lang="en-US" sz="1100" dirty="0"/>
          </a:p>
        </p:txBody>
      </p:sp>
      <p:sp>
        <p:nvSpPr>
          <p:cNvPr id="32" name="Text 30"/>
          <p:cNvSpPr txBox="1"/>
          <p:nvPr/>
        </p:nvSpPr>
        <p:spPr>
          <a:xfrm>
            <a:off x="4983480" y="4050792"/>
            <a:ext cx="2148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</a:t>
            </a:r>
            <a:endParaRPr lang="en-US" sz="1400" dirty="0"/>
          </a:p>
        </p:txBody>
      </p:sp>
      <p:sp>
        <p:nvSpPr>
          <p:cNvPr id="33" name="Text 31"/>
          <p:cNvSpPr txBox="1"/>
          <p:nvPr/>
        </p:nvSpPr>
        <p:spPr>
          <a:xfrm>
            <a:off x="4983480" y="4398264"/>
            <a:ext cx="2148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USD per episode and per day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548640" y="5065776"/>
            <a:ext cx="3246120" cy="1005840"/>
          </a:xfrm>
          <a:prstGeom prst="roundRect">
            <a:avLst>
              <a:gd name="adj" fmla="val 9091"/>
            </a:avLst>
          </a:prstGeom>
          <a:solidFill>
            <a:srgbClr val="F1F4F7"/>
          </a:solidFill>
          <a:ln w="12700">
            <a:solidFill>
              <a:srgbClr val="F1F4F7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731520" y="5248656"/>
            <a:ext cx="685800" cy="292608"/>
          </a:xfrm>
          <a:prstGeom prst="roundRect">
            <a:avLst>
              <a:gd name="adj" fmla="val 25000"/>
            </a:avLst>
          </a:prstGeom>
          <a:solidFill>
            <a:srgbClr val="6A4BD1"/>
          </a:solidFill>
          <a:ln w="12700">
            <a:solidFill>
              <a:srgbClr val="6A4BD1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731520" y="5248656"/>
            <a:ext cx="685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Q-7</a:t>
            </a:r>
            <a:endParaRPr lang="en-US" sz="1100" dirty="0"/>
          </a:p>
        </p:txBody>
      </p:sp>
      <p:sp>
        <p:nvSpPr>
          <p:cNvPr id="37" name="Text 35"/>
          <p:cNvSpPr txBox="1"/>
          <p:nvPr/>
        </p:nvSpPr>
        <p:spPr>
          <a:xfrm>
            <a:off x="1554480" y="5221224"/>
            <a:ext cx="2148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Observation impact</a:t>
            </a:r>
            <a:endParaRPr lang="en-US" sz="1400" dirty="0"/>
          </a:p>
        </p:txBody>
      </p:sp>
      <p:sp>
        <p:nvSpPr>
          <p:cNvPr id="38" name="Text 36"/>
          <p:cNvSpPr txBox="1"/>
          <p:nvPr/>
        </p:nvSpPr>
        <p:spPr>
          <a:xfrm>
            <a:off x="1554480" y="5568696"/>
            <a:ext cx="2148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local-RPC latency on vs. off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3977640" y="5065776"/>
            <a:ext cx="3246120" cy="1005840"/>
          </a:xfrm>
          <a:prstGeom prst="roundRect">
            <a:avLst>
              <a:gd name="adj" fmla="val 9091"/>
            </a:avLst>
          </a:prstGeom>
          <a:solidFill>
            <a:srgbClr val="F1F4F7"/>
          </a:solidFill>
          <a:ln w="12700">
            <a:solidFill>
              <a:srgbClr val="F1F4F7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4160520" y="5248656"/>
            <a:ext cx="685800" cy="292608"/>
          </a:xfrm>
          <a:prstGeom prst="roundRect">
            <a:avLst>
              <a:gd name="adj" fmla="val 25000"/>
            </a:avLst>
          </a:prstGeom>
          <a:solidFill>
            <a:srgbClr val="C0453F"/>
          </a:solidFill>
          <a:ln w="12700">
            <a:solidFill>
              <a:srgbClr val="C0453F"/>
            </a:solidFill>
            <a:prstDash val="solid"/>
          </a:ln>
        </p:spPr>
      </p:sp>
      <p:sp>
        <p:nvSpPr>
          <p:cNvPr id="41" name="Text 39"/>
          <p:cNvSpPr txBox="1"/>
          <p:nvPr/>
        </p:nvSpPr>
        <p:spPr>
          <a:xfrm>
            <a:off x="4160520" y="5248656"/>
            <a:ext cx="685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Q-8</a:t>
            </a:r>
            <a:endParaRPr lang="en-US" sz="1100" dirty="0"/>
          </a:p>
        </p:txBody>
      </p:sp>
      <p:sp>
        <p:nvSpPr>
          <p:cNvPr id="42" name="Text 40"/>
          <p:cNvSpPr txBox="1"/>
          <p:nvPr/>
        </p:nvSpPr>
        <p:spPr>
          <a:xfrm>
            <a:off x="4983480" y="5221224"/>
            <a:ext cx="2148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Safety</a:t>
            </a:r>
            <a:endParaRPr lang="en-US" sz="1400" dirty="0"/>
          </a:p>
        </p:txBody>
      </p:sp>
      <p:sp>
        <p:nvSpPr>
          <p:cNvPr id="43" name="Text 41"/>
          <p:cNvSpPr txBox="1"/>
          <p:nvPr/>
        </p:nvSpPr>
        <p:spPr>
          <a:xfrm>
            <a:off x="4983480" y="5568696"/>
            <a:ext cx="2148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unauthorised executions = 0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7589520" y="1554480"/>
            <a:ext cx="4023360" cy="2148840"/>
          </a:xfrm>
          <a:prstGeom prst="roundRect">
            <a:avLst>
              <a:gd name="adj" fmla="val 4255"/>
            </a:avLst>
          </a:prstGeom>
          <a:solidFill>
            <a:srgbClr val="D7F2EC"/>
          </a:solidFill>
          <a:ln w="12700">
            <a:solidFill>
              <a:srgbClr val="D7F2EC"/>
            </a:solidFill>
            <a:prstDash val="solid"/>
          </a:ln>
        </p:spPr>
      </p:sp>
      <p:sp>
        <p:nvSpPr>
          <p:cNvPr id="45" name="Text 43"/>
          <p:cNvSpPr txBox="1"/>
          <p:nvPr/>
        </p:nvSpPr>
        <p:spPr>
          <a:xfrm>
            <a:off x="7818120" y="169164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E9E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Deterministic gates</a:t>
            </a:r>
            <a:endParaRPr lang="en-US" sz="1600" dirty="0"/>
          </a:p>
        </p:txBody>
      </p:sp>
      <p:sp>
        <p:nvSpPr>
          <p:cNvPr id="46" name="Text 44"/>
          <p:cNvSpPr txBox="1"/>
          <p:nvPr/>
        </p:nvSpPr>
        <p:spPr>
          <a:xfrm>
            <a:off x="7818120" y="2103120"/>
            <a:ext cx="35661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Containment, policy, sandbox, bundle lifecycle, concurrency, degradation, backup. 100% pass, every run, over P-22 = 20 trials. One failure blocks.</a:t>
            </a:r>
            <a:endParaRPr lang="en-US" sz="1250" dirty="0"/>
          </a:p>
        </p:txBody>
      </p:sp>
      <p:sp>
        <p:nvSpPr>
          <p:cNvPr id="47" name="Shape 45"/>
          <p:cNvSpPr/>
          <p:nvPr/>
        </p:nvSpPr>
        <p:spPr>
          <a:xfrm>
            <a:off x="7589520" y="3886200"/>
            <a:ext cx="4023360" cy="2331720"/>
          </a:xfrm>
          <a:prstGeom prst="roundRect">
            <a:avLst>
              <a:gd name="adj" fmla="val 3922"/>
            </a:avLst>
          </a:prstGeom>
          <a:solidFill>
            <a:srgbClr val="E6E0FA"/>
          </a:solidFill>
          <a:ln w="12700">
            <a:solidFill>
              <a:srgbClr val="E6E0FA"/>
            </a:solidFill>
            <a:prstDash val="solid"/>
          </a:ln>
        </p:spPr>
      </p:sp>
      <p:sp>
        <p:nvSpPr>
          <p:cNvPr id="48" name="Text 46"/>
          <p:cNvSpPr txBox="1"/>
          <p:nvPr/>
        </p:nvSpPr>
        <p:spPr>
          <a:xfrm>
            <a:off x="7818120" y="402336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6A4B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Model-quality gates</a:t>
            </a:r>
            <a:endParaRPr lang="en-US" sz="1600" dirty="0"/>
          </a:p>
        </p:txBody>
      </p:sp>
      <p:sp>
        <p:nvSpPr>
          <p:cNvPr id="49" name="Text 47"/>
          <p:cNvSpPr txBox="1"/>
          <p:nvPr/>
        </p:nvSpPr>
        <p:spPr>
          <a:xfrm>
            <a:off x="7818120" y="4434840"/>
            <a:ext cx="356616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Diagnosis, actionability, Judge detection. The lower 95% Wilson bound must clear the target; fixture sets are frozen and hashed; humans adjudicate disputes. Seeded Judge cases: zero misses.</a:t>
            </a:r>
            <a:endParaRPr lang="en-US" sz="1250" dirty="0"/>
          </a:p>
        </p:txBody>
      </p:sp>
      <p:sp>
        <p:nvSpPr>
          <p:cNvPr id="50" name="Text 48"/>
          <p:cNvSpPr txBox="1"/>
          <p:nvPr/>
        </p:nvSpPr>
        <p:spPr>
          <a:xfrm>
            <a:off x="548640" y="6446520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§2.6, §8.1, §13.2–§13.3</a:t>
            </a:r>
            <a:endParaRPr lang="en-US" sz="900" dirty="0"/>
          </a:p>
        </p:txBody>
      </p:sp>
      <p:sp>
        <p:nvSpPr>
          <p:cNvPr id="51" name="Text 49"/>
          <p:cNvSpPr txBox="1"/>
          <p:nvPr/>
        </p:nvSpPr>
        <p:spPr>
          <a:xfrm>
            <a:off x="1115568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17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Roadmap: staged authorisation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87552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5B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gate may be skipped or merged. Schedule pressure is not evidence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731520" y="2423160"/>
            <a:ext cx="10789920" cy="0"/>
          </a:xfrm>
          <a:prstGeom prst="line">
            <a:avLst/>
          </a:prstGeom>
          <a:noFill/>
          <a:ln w="25400">
            <a:solidFill>
              <a:srgbClr val="D5DBE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325880" y="2103120"/>
            <a:ext cx="3383280" cy="640080"/>
          </a:xfrm>
          <a:prstGeom prst="roundRect">
            <a:avLst>
              <a:gd name="adj" fmla="val 14286"/>
            </a:avLst>
          </a:prstGeom>
          <a:solidFill>
            <a:srgbClr val="D7F2EC"/>
          </a:solidFill>
          <a:ln w="12700">
            <a:solidFill>
              <a:srgbClr val="D7F2EC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463040" y="2130552"/>
            <a:ext cx="3108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E9E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M0A  containment prototype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1463040" y="242316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7-week box · 63 eng-days · 2 engineers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5486400" y="2103120"/>
            <a:ext cx="2651760" cy="640080"/>
          </a:xfrm>
          <a:prstGeom prst="roundRect">
            <a:avLst>
              <a:gd name="adj" fmla="val 14286"/>
            </a:avLst>
          </a:prstGeom>
          <a:solidFill>
            <a:srgbClr val="E6E0FA"/>
          </a:solidFill>
          <a:ln w="12700">
            <a:solidFill>
              <a:srgbClr val="E6E0FA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5623560" y="2130552"/>
            <a:ext cx="2377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A4B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M0B  diagnosis workflow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5623560" y="242316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 campaign + 28-day run-in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8915400" y="2103120"/>
            <a:ext cx="2606040" cy="640080"/>
          </a:xfrm>
          <a:prstGeom prst="roundRect">
            <a:avLst>
              <a:gd name="adj" fmla="val 14286"/>
            </a:avLst>
          </a:prstGeom>
          <a:solidFill>
            <a:srgbClr val="F1F4F7"/>
          </a:solidFill>
          <a:ln w="12700">
            <a:solidFill>
              <a:srgbClr val="F1F4F7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9052560" y="2130552"/>
            <a:ext cx="2331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B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M1  gated actions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9052560" y="2423160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testnet T2 → shadow mode → limited autonomy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685800" y="2167128"/>
            <a:ext cx="512064" cy="512064"/>
          </a:xfrm>
          <a:prstGeom prst="diamond">
            <a:avLst/>
          </a:prstGeom>
          <a:solidFill>
            <a:srgbClr val="0F1720"/>
          </a:solidFill>
          <a:ln w="12700">
            <a:solidFill>
              <a:srgbClr val="0F1720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85800" y="216712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G0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846320" y="2167128"/>
            <a:ext cx="512064" cy="512064"/>
          </a:xfrm>
          <a:prstGeom prst="diamond">
            <a:avLst/>
          </a:prstGeom>
          <a:solidFill>
            <a:srgbClr val="0F1720"/>
          </a:solidFill>
          <a:ln w="12700">
            <a:solidFill>
              <a:srgbClr val="0F1720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4846320" y="216712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G1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8275320" y="2167128"/>
            <a:ext cx="512064" cy="512064"/>
          </a:xfrm>
          <a:prstGeom prst="diamond">
            <a:avLst/>
          </a:prstGeom>
          <a:solidFill>
            <a:srgbClr val="0F1720"/>
          </a:solidFill>
          <a:ln w="12700">
            <a:solidFill>
              <a:srgbClr val="0F1720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8275320" y="216712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G2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1325880" y="2971800"/>
            <a:ext cx="3383280" cy="548640"/>
          </a:xfrm>
          <a:prstGeom prst="roundRect">
            <a:avLst>
              <a:gd name="adj" fmla="val 16667"/>
            </a:avLst>
          </a:prstGeom>
          <a:solidFill>
            <a:srgbClr val="E6E0FA"/>
          </a:solidFill>
          <a:ln w="12700">
            <a:solidFill>
              <a:srgbClr val="E6E0FA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1463040" y="2990088"/>
            <a:ext cx="31546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Provider track (parallel): W1-O, W1-G, W21–W23 · 22 eng-days · PA per configuration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548640" y="1463040"/>
            <a:ext cx="1417320" cy="274320"/>
          </a:xfrm>
          <a:prstGeom prst="roundRect">
            <a:avLst>
              <a:gd name="adj" fmla="val 26667"/>
            </a:avLst>
          </a:prstGeom>
          <a:solidFill>
            <a:srgbClr val="C9821C"/>
          </a:solidFill>
          <a:ln w="12700">
            <a:solidFill>
              <a:srgbClr val="C9821C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548640" y="1463040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ARE HERE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978408" y="1755648"/>
            <a:ext cx="914" cy="411480"/>
          </a:xfrm>
          <a:prstGeom prst="line">
            <a:avLst/>
          </a:prstGeom>
          <a:noFill/>
          <a:ln w="19050">
            <a:solidFill>
              <a:srgbClr val="C9821C"/>
            </a:solidFill>
            <a:prstDash val="solid"/>
            <a:tailEnd type="triangle"/>
          </a:ln>
        </p:spPr>
      </p:sp>
      <p:sp>
        <p:nvSpPr>
          <p:cNvPr id="25" name="Shape 23"/>
          <p:cNvSpPr/>
          <p:nvPr/>
        </p:nvSpPr>
        <p:spPr>
          <a:xfrm>
            <a:off x="548640" y="3886200"/>
            <a:ext cx="3566160" cy="2286000"/>
          </a:xfrm>
          <a:prstGeom prst="roundRect">
            <a:avLst>
              <a:gd name="adj" fmla="val 4000"/>
            </a:avLst>
          </a:prstGeom>
          <a:solidFill>
            <a:srgbClr val="F1F4F7"/>
          </a:solidFill>
          <a:ln w="12700">
            <a:solidFill>
              <a:srgbClr val="F1F4F7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777240" y="4023360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G0 → authorises M0A coding</a:t>
            </a:r>
            <a:endParaRPr lang="en-US" sz="1450" dirty="0"/>
          </a:p>
        </p:txBody>
      </p:sp>
      <p:sp>
        <p:nvSpPr>
          <p:cNvPr id="27" name="Text 25"/>
          <p:cNvSpPr txBox="1"/>
          <p:nvPr/>
        </p:nvSpPr>
        <p:spPr>
          <a:xfrm>
            <a:off x="777240" y="4434840"/>
            <a:ext cx="31546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Delivery package: frozen product definition, M0A decisions closed or defaulted, approved registers, gate classes, charter with named DRIs, governance, runbooks.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4297680" y="3886200"/>
            <a:ext cx="3566160" cy="2286000"/>
          </a:xfrm>
          <a:prstGeom prst="roundRect">
            <a:avLst>
              <a:gd name="adj" fmla="val 4000"/>
            </a:avLst>
          </a:prstGeom>
          <a:solidFill>
            <a:srgbClr val="F1F4F7"/>
          </a:solidFill>
          <a:ln w="12700">
            <a:solidFill>
              <a:srgbClr val="F1F4F7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4526280" y="4023360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G1 → authorises M0B</a:t>
            </a:r>
            <a:endParaRPr lang="en-US" sz="1450" dirty="0"/>
          </a:p>
        </p:txBody>
      </p:sp>
      <p:sp>
        <p:nvSpPr>
          <p:cNvPr id="30" name="Text 28"/>
          <p:cNvSpPr txBox="1"/>
          <p:nvPr/>
        </p:nvSpPr>
        <p:spPr>
          <a:xfrm>
            <a:off x="4526280" y="4434840"/>
            <a:ext cx="31546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four containment properties at 100% over 20 trials on real boundaries; W1 log on the pinned configuration; ER-1…ER-13 done; restore test passed.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8046720" y="3886200"/>
            <a:ext cx="3566160" cy="2286000"/>
          </a:xfrm>
          <a:prstGeom prst="roundRect">
            <a:avLst>
              <a:gd name="adj" fmla="val 4000"/>
            </a:avLst>
          </a:prstGeom>
          <a:solidFill>
            <a:srgbClr val="F1F4F7"/>
          </a:solidFill>
          <a:ln w="12700">
            <a:solidFill>
              <a:srgbClr val="F1F4F7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8275320" y="4023360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G2 → authorises M1</a:t>
            </a:r>
            <a:endParaRPr lang="en-US" sz="1450" dirty="0"/>
          </a:p>
        </p:txBody>
      </p:sp>
      <p:sp>
        <p:nvSpPr>
          <p:cNvPr id="33" name="Text 31"/>
          <p:cNvSpPr txBox="1"/>
          <p:nvPr/>
        </p:nvSpPr>
        <p:spPr>
          <a:xfrm>
            <a:off x="8275320" y="4434840"/>
            <a:ext cx="31546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Safety: every deterministic gate, Q-8 = 0. Value: Q-1, Q-2, Q-4 meet targets; Q-3, Q-5–Q-7 in ceilings; operator holds a value veto.</a:t>
            </a:r>
            <a:endParaRPr lang="en-US" sz="1200" dirty="0"/>
          </a:p>
        </p:txBody>
      </p:sp>
      <p:sp>
        <p:nvSpPr>
          <p:cNvPr id="34" name="Text 32"/>
          <p:cNvSpPr txBox="1"/>
          <p:nvPr/>
        </p:nvSpPr>
        <p:spPr>
          <a:xfrm>
            <a:off x="548640" y="6446520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§7, §7.1 charter, §7.2 gates · critical path G0 → W3 → W4 → W7 → W8 = 28 eng-days</a:t>
            </a:r>
            <a:endParaRPr lang="en-US" sz="900" dirty="0"/>
          </a:p>
        </p:txBody>
      </p:sp>
      <p:sp>
        <p:nvSpPr>
          <p:cNvPr id="35" name="Text 33"/>
          <p:cNvSpPr txBox="1"/>
          <p:nvPr/>
        </p:nvSpPr>
        <p:spPr>
          <a:xfrm>
            <a:off x="1115568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17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Status: M0 code drafted ahead of G0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87552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5B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Development evidence only: one uid, file anchor store, fake observer and provider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3017520" cy="1005840"/>
          </a:xfrm>
          <a:prstGeom prst="roundRect">
            <a:avLst>
              <a:gd name="adj" fmla="val 9091"/>
            </a:avLst>
          </a:prstGeom>
          <a:solidFill>
            <a:srgbClr val="F1F4F7"/>
          </a:solidFill>
          <a:ln w="12700">
            <a:solidFill>
              <a:srgbClr val="F1F4F7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77240" y="1645920"/>
            <a:ext cx="1325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2E8B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106</a:t>
            </a:r>
            <a:endParaRPr lang="en-US" sz="3400" dirty="0"/>
          </a:p>
        </p:txBody>
      </p:sp>
      <p:sp>
        <p:nvSpPr>
          <p:cNvPr id="6" name="Text 4"/>
          <p:cNvSpPr txBox="1"/>
          <p:nvPr/>
        </p:nvSpPr>
        <p:spPr>
          <a:xfrm>
            <a:off x="2057400" y="1645920"/>
            <a:ext cx="1417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tests passing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548640" y="2724912"/>
            <a:ext cx="3017520" cy="1005840"/>
          </a:xfrm>
          <a:prstGeom prst="roundRect">
            <a:avLst>
              <a:gd name="adj" fmla="val 9091"/>
            </a:avLst>
          </a:prstGeom>
          <a:solidFill>
            <a:srgbClr val="F1F4F7"/>
          </a:solidFill>
          <a:ln w="12700">
            <a:solidFill>
              <a:srgbClr val="F1F4F7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77240" y="2816352"/>
            <a:ext cx="1325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C982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14</a:t>
            </a:r>
            <a:endParaRPr lang="en-US" sz="3400" dirty="0"/>
          </a:p>
        </p:txBody>
      </p:sp>
      <p:sp>
        <p:nvSpPr>
          <p:cNvPr id="9" name="Text 7"/>
          <p:cNvSpPr txBox="1"/>
          <p:nvPr/>
        </p:nvSpPr>
        <p:spPr>
          <a:xfrm>
            <a:off x="2057400" y="2816352"/>
            <a:ext cx="1417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skipped: need pinned runtime / live key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548640" y="3895344"/>
            <a:ext cx="3017520" cy="1005840"/>
          </a:xfrm>
          <a:prstGeom prst="roundRect">
            <a:avLst>
              <a:gd name="adj" fmla="val 9091"/>
            </a:avLst>
          </a:prstGeom>
          <a:solidFill>
            <a:srgbClr val="F1F4F7"/>
          </a:solidFill>
          <a:ln w="12700">
            <a:solidFill>
              <a:srgbClr val="F1F4F7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777240" y="3986784"/>
            <a:ext cx="1325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F17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6.8k</a:t>
            </a:r>
            <a:endParaRPr lang="en-US" sz="3400" dirty="0"/>
          </a:p>
        </p:txBody>
      </p:sp>
      <p:sp>
        <p:nvSpPr>
          <p:cNvPr id="12" name="Text 10"/>
          <p:cNvSpPr txBox="1"/>
          <p:nvPr/>
        </p:nvSpPr>
        <p:spPr>
          <a:xfrm>
            <a:off x="2057400" y="3986784"/>
            <a:ext cx="1417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lines of Python (valops/)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548640" y="5065776"/>
            <a:ext cx="3017520" cy="1005840"/>
          </a:xfrm>
          <a:prstGeom prst="roundRect">
            <a:avLst>
              <a:gd name="adj" fmla="val 9091"/>
            </a:avLst>
          </a:prstGeom>
          <a:solidFill>
            <a:srgbClr val="F1F4F7"/>
          </a:solidFill>
          <a:ln w="12700">
            <a:solidFill>
              <a:srgbClr val="F1F4F7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777240" y="5157216"/>
            <a:ext cx="1325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F17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14</a:t>
            </a:r>
            <a:endParaRPr lang="en-US" sz="3400" dirty="0"/>
          </a:p>
        </p:txBody>
      </p:sp>
      <p:sp>
        <p:nvSpPr>
          <p:cNvPr id="15" name="Text 13"/>
          <p:cNvSpPr txBox="1"/>
          <p:nvPr/>
        </p:nvSpPr>
        <p:spPr>
          <a:xfrm>
            <a:off x="2057400" y="5157216"/>
            <a:ext cx="1417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degraded-mode runbooks</a:t>
            </a:r>
            <a:endParaRPr lang="en-US" sz="1150" dirty="0"/>
          </a:p>
        </p:txBody>
      </p:sp>
      <p:sp>
        <p:nvSpPr>
          <p:cNvPr id="16" name="Text 14"/>
          <p:cNvSpPr txBox="1"/>
          <p:nvPr/>
        </p:nvSpPr>
        <p:spPr>
          <a:xfrm>
            <a:off x="3931920" y="15087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E8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exists (dev evidence)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3931920" y="1920240"/>
            <a:ext cx="667512" cy="310896"/>
          </a:xfrm>
          <a:prstGeom prst="roundRect">
            <a:avLst>
              <a:gd name="adj" fmla="val 23529"/>
            </a:avLst>
          </a:prstGeom>
          <a:solidFill>
            <a:srgbClr val="DCF0E3"/>
          </a:solidFill>
          <a:ln w="12700">
            <a:solidFill>
              <a:srgbClr val="DCF0E3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3931920" y="1920240"/>
            <a:ext cx="6675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E8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W2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690872" y="1920240"/>
            <a:ext cx="667512" cy="310896"/>
          </a:xfrm>
          <a:prstGeom prst="roundRect">
            <a:avLst>
              <a:gd name="adj" fmla="val 23529"/>
            </a:avLst>
          </a:prstGeom>
          <a:solidFill>
            <a:srgbClr val="DCF0E3"/>
          </a:solidFill>
          <a:ln w="12700">
            <a:solidFill>
              <a:srgbClr val="DCF0E3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4690872" y="1920240"/>
            <a:ext cx="6675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E8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W3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5449824" y="1920240"/>
            <a:ext cx="667512" cy="310896"/>
          </a:xfrm>
          <a:prstGeom prst="roundRect">
            <a:avLst>
              <a:gd name="adj" fmla="val 23529"/>
            </a:avLst>
          </a:prstGeom>
          <a:solidFill>
            <a:srgbClr val="DCF0E3"/>
          </a:solidFill>
          <a:ln w="12700">
            <a:solidFill>
              <a:srgbClr val="DCF0E3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5449824" y="1920240"/>
            <a:ext cx="6675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E8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W4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208776" y="1920240"/>
            <a:ext cx="667512" cy="310896"/>
          </a:xfrm>
          <a:prstGeom prst="roundRect">
            <a:avLst>
              <a:gd name="adj" fmla="val 23529"/>
            </a:avLst>
          </a:prstGeom>
          <a:solidFill>
            <a:srgbClr val="DCF0E3"/>
          </a:solidFill>
          <a:ln w="12700">
            <a:solidFill>
              <a:srgbClr val="DCF0E3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6208776" y="1920240"/>
            <a:ext cx="6675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E8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W5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6967728" y="1920240"/>
            <a:ext cx="667512" cy="310896"/>
          </a:xfrm>
          <a:prstGeom prst="roundRect">
            <a:avLst>
              <a:gd name="adj" fmla="val 23529"/>
            </a:avLst>
          </a:prstGeom>
          <a:solidFill>
            <a:srgbClr val="DCF0E3"/>
          </a:solidFill>
          <a:ln w="12700">
            <a:solidFill>
              <a:srgbClr val="DCF0E3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6967728" y="1920240"/>
            <a:ext cx="6675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E8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W6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7726680" y="1920240"/>
            <a:ext cx="667512" cy="310896"/>
          </a:xfrm>
          <a:prstGeom prst="roundRect">
            <a:avLst>
              <a:gd name="adj" fmla="val 23529"/>
            </a:avLst>
          </a:prstGeom>
          <a:solidFill>
            <a:srgbClr val="DCF0E3"/>
          </a:solidFill>
          <a:ln w="12700">
            <a:solidFill>
              <a:srgbClr val="DCF0E3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7726680" y="1920240"/>
            <a:ext cx="6675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E8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W6b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8485632" y="1920240"/>
            <a:ext cx="667512" cy="310896"/>
          </a:xfrm>
          <a:prstGeom prst="roundRect">
            <a:avLst>
              <a:gd name="adj" fmla="val 23529"/>
            </a:avLst>
          </a:prstGeom>
          <a:solidFill>
            <a:srgbClr val="DCF0E3"/>
          </a:solidFill>
          <a:ln w="12700">
            <a:solidFill>
              <a:srgbClr val="DCF0E3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8485632" y="1920240"/>
            <a:ext cx="6675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E8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W7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9244584" y="1920240"/>
            <a:ext cx="667512" cy="310896"/>
          </a:xfrm>
          <a:prstGeom prst="roundRect">
            <a:avLst>
              <a:gd name="adj" fmla="val 23529"/>
            </a:avLst>
          </a:prstGeom>
          <a:solidFill>
            <a:srgbClr val="DCF0E3"/>
          </a:solidFill>
          <a:ln w="12700">
            <a:solidFill>
              <a:srgbClr val="DCF0E3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9244584" y="1920240"/>
            <a:ext cx="6675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E8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W9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10003536" y="1920240"/>
            <a:ext cx="667512" cy="310896"/>
          </a:xfrm>
          <a:prstGeom prst="roundRect">
            <a:avLst>
              <a:gd name="adj" fmla="val 23529"/>
            </a:avLst>
          </a:prstGeom>
          <a:solidFill>
            <a:srgbClr val="DCF0E3"/>
          </a:solidFill>
          <a:ln w="12700">
            <a:solidFill>
              <a:srgbClr val="DCF0E3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10003536" y="1920240"/>
            <a:ext cx="6675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E8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W10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10762488" y="1920240"/>
            <a:ext cx="667512" cy="310896"/>
          </a:xfrm>
          <a:prstGeom prst="roundRect">
            <a:avLst>
              <a:gd name="adj" fmla="val 23529"/>
            </a:avLst>
          </a:prstGeom>
          <a:solidFill>
            <a:srgbClr val="DCF0E3"/>
          </a:solidFill>
          <a:ln w="12700">
            <a:solidFill>
              <a:srgbClr val="DCF0E3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10762488" y="1920240"/>
            <a:ext cx="6675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E8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W11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3931920" y="2331720"/>
            <a:ext cx="667512" cy="310896"/>
          </a:xfrm>
          <a:prstGeom prst="roundRect">
            <a:avLst>
              <a:gd name="adj" fmla="val 23529"/>
            </a:avLst>
          </a:prstGeom>
          <a:solidFill>
            <a:srgbClr val="DCF0E3"/>
          </a:solidFill>
          <a:ln w="12700">
            <a:solidFill>
              <a:srgbClr val="DCF0E3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3931920" y="2331720"/>
            <a:ext cx="6675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E8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W12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4690872" y="2331720"/>
            <a:ext cx="667512" cy="310896"/>
          </a:xfrm>
          <a:prstGeom prst="roundRect">
            <a:avLst>
              <a:gd name="adj" fmla="val 23529"/>
            </a:avLst>
          </a:prstGeom>
          <a:solidFill>
            <a:srgbClr val="DCF0E3"/>
          </a:solidFill>
          <a:ln w="12700">
            <a:solidFill>
              <a:srgbClr val="DCF0E3"/>
            </a:solidFill>
            <a:prstDash val="solid"/>
          </a:ln>
        </p:spPr>
      </p:sp>
      <p:sp>
        <p:nvSpPr>
          <p:cNvPr id="40" name="Text 38"/>
          <p:cNvSpPr txBox="1"/>
          <p:nvPr/>
        </p:nvSpPr>
        <p:spPr>
          <a:xfrm>
            <a:off x="4690872" y="2331720"/>
            <a:ext cx="6675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E8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W13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5449824" y="2331720"/>
            <a:ext cx="667512" cy="310896"/>
          </a:xfrm>
          <a:prstGeom prst="roundRect">
            <a:avLst>
              <a:gd name="adj" fmla="val 23529"/>
            </a:avLst>
          </a:prstGeom>
          <a:solidFill>
            <a:srgbClr val="DCF0E3"/>
          </a:solidFill>
          <a:ln w="12700">
            <a:solidFill>
              <a:srgbClr val="DCF0E3"/>
            </a:solidFill>
            <a:prstDash val="solid"/>
          </a:ln>
        </p:spPr>
      </p:sp>
      <p:sp>
        <p:nvSpPr>
          <p:cNvPr id="42" name="Text 40"/>
          <p:cNvSpPr txBox="1"/>
          <p:nvPr/>
        </p:nvSpPr>
        <p:spPr>
          <a:xfrm>
            <a:off x="5449824" y="2331720"/>
            <a:ext cx="6675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E8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W14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6208776" y="2331720"/>
            <a:ext cx="667512" cy="310896"/>
          </a:xfrm>
          <a:prstGeom prst="roundRect">
            <a:avLst>
              <a:gd name="adj" fmla="val 23529"/>
            </a:avLst>
          </a:prstGeom>
          <a:solidFill>
            <a:srgbClr val="DCF0E3"/>
          </a:solidFill>
          <a:ln w="12700">
            <a:solidFill>
              <a:srgbClr val="DCF0E3"/>
            </a:solidFill>
            <a:prstDash val="solid"/>
          </a:ln>
        </p:spPr>
      </p:sp>
      <p:sp>
        <p:nvSpPr>
          <p:cNvPr id="44" name="Text 42"/>
          <p:cNvSpPr txBox="1"/>
          <p:nvPr/>
        </p:nvSpPr>
        <p:spPr>
          <a:xfrm>
            <a:off x="6208776" y="2331720"/>
            <a:ext cx="6675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E8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W15</a:t>
            </a:r>
            <a:endParaRPr lang="en-US" sz="1100" dirty="0"/>
          </a:p>
        </p:txBody>
      </p:sp>
      <p:sp>
        <p:nvSpPr>
          <p:cNvPr id="45" name="Shape 43"/>
          <p:cNvSpPr/>
          <p:nvPr/>
        </p:nvSpPr>
        <p:spPr>
          <a:xfrm>
            <a:off x="6967728" y="2331720"/>
            <a:ext cx="667512" cy="310896"/>
          </a:xfrm>
          <a:prstGeom prst="roundRect">
            <a:avLst>
              <a:gd name="adj" fmla="val 23529"/>
            </a:avLst>
          </a:prstGeom>
          <a:solidFill>
            <a:srgbClr val="DCF0E3"/>
          </a:solidFill>
          <a:ln w="12700">
            <a:solidFill>
              <a:srgbClr val="DCF0E3"/>
            </a:solidFill>
            <a:prstDash val="solid"/>
          </a:ln>
        </p:spPr>
      </p:sp>
      <p:sp>
        <p:nvSpPr>
          <p:cNvPr id="46" name="Text 44"/>
          <p:cNvSpPr txBox="1"/>
          <p:nvPr/>
        </p:nvSpPr>
        <p:spPr>
          <a:xfrm>
            <a:off x="6967728" y="2331720"/>
            <a:ext cx="6675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E8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W16</a:t>
            </a:r>
            <a:endParaRPr lang="en-US" sz="1100" dirty="0"/>
          </a:p>
        </p:txBody>
      </p:sp>
      <p:sp>
        <p:nvSpPr>
          <p:cNvPr id="47" name="Shape 45"/>
          <p:cNvSpPr/>
          <p:nvPr/>
        </p:nvSpPr>
        <p:spPr>
          <a:xfrm>
            <a:off x="7726680" y="2331720"/>
            <a:ext cx="667512" cy="310896"/>
          </a:xfrm>
          <a:prstGeom prst="roundRect">
            <a:avLst>
              <a:gd name="adj" fmla="val 23529"/>
            </a:avLst>
          </a:prstGeom>
          <a:solidFill>
            <a:srgbClr val="DCF0E3"/>
          </a:solidFill>
          <a:ln w="12700">
            <a:solidFill>
              <a:srgbClr val="DCF0E3"/>
            </a:solidFill>
            <a:prstDash val="solid"/>
          </a:ln>
        </p:spPr>
      </p:sp>
      <p:sp>
        <p:nvSpPr>
          <p:cNvPr id="48" name="Text 46"/>
          <p:cNvSpPr txBox="1"/>
          <p:nvPr/>
        </p:nvSpPr>
        <p:spPr>
          <a:xfrm>
            <a:off x="7726680" y="2331720"/>
            <a:ext cx="6675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E8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W17</a:t>
            </a:r>
            <a:endParaRPr lang="en-US" sz="1100" dirty="0"/>
          </a:p>
        </p:txBody>
      </p:sp>
      <p:sp>
        <p:nvSpPr>
          <p:cNvPr id="49" name="Shape 47"/>
          <p:cNvSpPr/>
          <p:nvPr/>
        </p:nvSpPr>
        <p:spPr>
          <a:xfrm>
            <a:off x="8485632" y="2331720"/>
            <a:ext cx="667512" cy="310896"/>
          </a:xfrm>
          <a:prstGeom prst="roundRect">
            <a:avLst>
              <a:gd name="adj" fmla="val 23529"/>
            </a:avLst>
          </a:prstGeom>
          <a:solidFill>
            <a:srgbClr val="DCF0E3"/>
          </a:solidFill>
          <a:ln w="12700">
            <a:solidFill>
              <a:srgbClr val="DCF0E3"/>
            </a:solidFill>
            <a:prstDash val="solid"/>
          </a:ln>
        </p:spPr>
      </p:sp>
      <p:sp>
        <p:nvSpPr>
          <p:cNvPr id="50" name="Text 48"/>
          <p:cNvSpPr txBox="1"/>
          <p:nvPr/>
        </p:nvSpPr>
        <p:spPr>
          <a:xfrm>
            <a:off x="8485632" y="2331720"/>
            <a:ext cx="6675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E8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W19</a:t>
            </a:r>
            <a:endParaRPr lang="en-US" sz="1100" dirty="0"/>
          </a:p>
        </p:txBody>
      </p:sp>
      <p:sp>
        <p:nvSpPr>
          <p:cNvPr id="51" name="Shape 49"/>
          <p:cNvSpPr/>
          <p:nvPr/>
        </p:nvSpPr>
        <p:spPr>
          <a:xfrm>
            <a:off x="9244584" y="2331720"/>
            <a:ext cx="667512" cy="310896"/>
          </a:xfrm>
          <a:prstGeom prst="roundRect">
            <a:avLst>
              <a:gd name="adj" fmla="val 23529"/>
            </a:avLst>
          </a:prstGeom>
          <a:solidFill>
            <a:srgbClr val="DCF0E3"/>
          </a:solidFill>
          <a:ln w="12700">
            <a:solidFill>
              <a:srgbClr val="DCF0E3"/>
            </a:solidFill>
            <a:prstDash val="solid"/>
          </a:ln>
        </p:spPr>
      </p:sp>
      <p:sp>
        <p:nvSpPr>
          <p:cNvPr id="52" name="Text 50"/>
          <p:cNvSpPr txBox="1"/>
          <p:nvPr/>
        </p:nvSpPr>
        <p:spPr>
          <a:xfrm>
            <a:off x="9244584" y="2331720"/>
            <a:ext cx="6675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E8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W21</a:t>
            </a:r>
            <a:endParaRPr lang="en-US" sz="1100" dirty="0"/>
          </a:p>
        </p:txBody>
      </p:sp>
      <p:sp>
        <p:nvSpPr>
          <p:cNvPr id="53" name="Shape 51"/>
          <p:cNvSpPr/>
          <p:nvPr/>
        </p:nvSpPr>
        <p:spPr>
          <a:xfrm>
            <a:off x="10003536" y="2331720"/>
            <a:ext cx="667512" cy="310896"/>
          </a:xfrm>
          <a:prstGeom prst="roundRect">
            <a:avLst>
              <a:gd name="adj" fmla="val 23529"/>
            </a:avLst>
          </a:prstGeom>
          <a:solidFill>
            <a:srgbClr val="DCF0E3"/>
          </a:solidFill>
          <a:ln w="12700">
            <a:solidFill>
              <a:srgbClr val="DCF0E3"/>
            </a:solidFill>
            <a:prstDash val="solid"/>
          </a:ln>
        </p:spPr>
      </p:sp>
      <p:sp>
        <p:nvSpPr>
          <p:cNvPr id="54" name="Text 52"/>
          <p:cNvSpPr txBox="1"/>
          <p:nvPr/>
        </p:nvSpPr>
        <p:spPr>
          <a:xfrm>
            <a:off x="10003536" y="2331720"/>
            <a:ext cx="6675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E8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W22</a:t>
            </a:r>
            <a:endParaRPr lang="en-US" sz="1100" dirty="0"/>
          </a:p>
        </p:txBody>
      </p:sp>
      <p:sp>
        <p:nvSpPr>
          <p:cNvPr id="55" name="Shape 53"/>
          <p:cNvSpPr/>
          <p:nvPr/>
        </p:nvSpPr>
        <p:spPr>
          <a:xfrm>
            <a:off x="10762488" y="2331720"/>
            <a:ext cx="667512" cy="310896"/>
          </a:xfrm>
          <a:prstGeom prst="roundRect">
            <a:avLst>
              <a:gd name="adj" fmla="val 23529"/>
            </a:avLst>
          </a:prstGeom>
          <a:solidFill>
            <a:srgbClr val="DCF0E3"/>
          </a:solidFill>
          <a:ln w="12700">
            <a:solidFill>
              <a:srgbClr val="DCF0E3"/>
            </a:solidFill>
            <a:prstDash val="solid"/>
          </a:ln>
        </p:spPr>
      </p:sp>
      <p:sp>
        <p:nvSpPr>
          <p:cNvPr id="56" name="Text 54"/>
          <p:cNvSpPr txBox="1"/>
          <p:nvPr/>
        </p:nvSpPr>
        <p:spPr>
          <a:xfrm>
            <a:off x="10762488" y="2331720"/>
            <a:ext cx="6675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E8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W23</a:t>
            </a:r>
            <a:endParaRPr lang="en-US" sz="1100" dirty="0"/>
          </a:p>
        </p:txBody>
      </p:sp>
      <p:sp>
        <p:nvSpPr>
          <p:cNvPr id="57" name="Text 55"/>
          <p:cNvSpPr txBox="1"/>
          <p:nvPr/>
        </p:nvSpPr>
        <p:spPr>
          <a:xfrm>
            <a:off x="3931920" y="29260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045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started: needs G0, pins, real hosts or live models</a:t>
            </a:r>
            <a:endParaRPr lang="en-US" sz="1500" dirty="0"/>
          </a:p>
        </p:txBody>
      </p:sp>
      <p:sp>
        <p:nvSpPr>
          <p:cNvPr id="58" name="Shape 56"/>
          <p:cNvSpPr/>
          <p:nvPr/>
        </p:nvSpPr>
        <p:spPr>
          <a:xfrm>
            <a:off x="3931920" y="3337560"/>
            <a:ext cx="685800" cy="310896"/>
          </a:xfrm>
          <a:prstGeom prst="roundRect">
            <a:avLst>
              <a:gd name="adj" fmla="val 23529"/>
            </a:avLst>
          </a:prstGeom>
          <a:solidFill>
            <a:srgbClr val="F8DEDC"/>
          </a:solidFill>
          <a:ln w="12700">
            <a:solidFill>
              <a:srgbClr val="F8DEDC"/>
            </a:solidFill>
            <a:prstDash val="solid"/>
          </a:ln>
        </p:spPr>
      </p:sp>
      <p:sp>
        <p:nvSpPr>
          <p:cNvPr id="59" name="Text 57"/>
          <p:cNvSpPr txBox="1"/>
          <p:nvPr/>
        </p:nvSpPr>
        <p:spPr>
          <a:xfrm>
            <a:off x="3931920" y="3337560"/>
            <a:ext cx="685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045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W0</a:t>
            </a:r>
            <a:endParaRPr lang="en-US" sz="1100" dirty="0"/>
          </a:p>
        </p:txBody>
      </p:sp>
      <p:sp>
        <p:nvSpPr>
          <p:cNvPr id="60" name="Text 58"/>
          <p:cNvSpPr txBox="1"/>
          <p:nvPr/>
        </p:nvSpPr>
        <p:spPr>
          <a:xfrm>
            <a:off x="4681728" y="3337560"/>
            <a:ext cx="1097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G0 package</a:t>
            </a:r>
            <a:endParaRPr lang="en-US" sz="1100" dirty="0"/>
          </a:p>
        </p:txBody>
      </p:sp>
      <p:sp>
        <p:nvSpPr>
          <p:cNvPr id="61" name="Shape 59"/>
          <p:cNvSpPr/>
          <p:nvPr/>
        </p:nvSpPr>
        <p:spPr>
          <a:xfrm>
            <a:off x="5833872" y="3337560"/>
            <a:ext cx="685800" cy="310896"/>
          </a:xfrm>
          <a:prstGeom prst="roundRect">
            <a:avLst>
              <a:gd name="adj" fmla="val 23529"/>
            </a:avLst>
          </a:prstGeom>
          <a:solidFill>
            <a:srgbClr val="F8DEDC"/>
          </a:solidFill>
          <a:ln w="12700">
            <a:solidFill>
              <a:srgbClr val="F8DEDC"/>
            </a:solidFill>
            <a:prstDash val="solid"/>
          </a:ln>
        </p:spPr>
      </p:sp>
      <p:sp>
        <p:nvSpPr>
          <p:cNvPr id="62" name="Text 60"/>
          <p:cNvSpPr txBox="1"/>
          <p:nvPr/>
        </p:nvSpPr>
        <p:spPr>
          <a:xfrm>
            <a:off x="5833872" y="3337560"/>
            <a:ext cx="685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045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W1</a:t>
            </a:r>
            <a:endParaRPr lang="en-US" sz="1100" dirty="0"/>
          </a:p>
        </p:txBody>
      </p:sp>
      <p:sp>
        <p:nvSpPr>
          <p:cNvPr id="63" name="Text 61"/>
          <p:cNvSpPr txBox="1"/>
          <p:nvPr/>
        </p:nvSpPr>
        <p:spPr>
          <a:xfrm>
            <a:off x="6583680" y="3337560"/>
            <a:ext cx="1097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pin</a:t>
            </a:r>
            <a:endParaRPr lang="en-US" sz="1100" dirty="0"/>
          </a:p>
        </p:txBody>
      </p:sp>
      <p:sp>
        <p:nvSpPr>
          <p:cNvPr id="64" name="Shape 62"/>
          <p:cNvSpPr/>
          <p:nvPr/>
        </p:nvSpPr>
        <p:spPr>
          <a:xfrm>
            <a:off x="7735824" y="3337560"/>
            <a:ext cx="685800" cy="310896"/>
          </a:xfrm>
          <a:prstGeom prst="roundRect">
            <a:avLst>
              <a:gd name="adj" fmla="val 23529"/>
            </a:avLst>
          </a:prstGeom>
          <a:solidFill>
            <a:srgbClr val="F8DEDC"/>
          </a:solidFill>
          <a:ln w="12700">
            <a:solidFill>
              <a:srgbClr val="F8DEDC"/>
            </a:solidFill>
            <a:prstDash val="solid"/>
          </a:ln>
        </p:spPr>
      </p:sp>
      <p:sp>
        <p:nvSpPr>
          <p:cNvPr id="65" name="Text 63"/>
          <p:cNvSpPr txBox="1"/>
          <p:nvPr/>
        </p:nvSpPr>
        <p:spPr>
          <a:xfrm>
            <a:off x="7735824" y="3337560"/>
            <a:ext cx="685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045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W1-O</a:t>
            </a:r>
            <a:endParaRPr lang="en-US" sz="1100" dirty="0"/>
          </a:p>
        </p:txBody>
      </p:sp>
      <p:sp>
        <p:nvSpPr>
          <p:cNvPr id="66" name="Text 64"/>
          <p:cNvSpPr txBox="1"/>
          <p:nvPr/>
        </p:nvSpPr>
        <p:spPr>
          <a:xfrm>
            <a:off x="8485632" y="3337560"/>
            <a:ext cx="1097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Codex</a:t>
            </a:r>
            <a:endParaRPr lang="en-US" sz="1100" dirty="0"/>
          </a:p>
        </p:txBody>
      </p:sp>
      <p:sp>
        <p:nvSpPr>
          <p:cNvPr id="67" name="Shape 65"/>
          <p:cNvSpPr/>
          <p:nvPr/>
        </p:nvSpPr>
        <p:spPr>
          <a:xfrm>
            <a:off x="9637776" y="3337560"/>
            <a:ext cx="685800" cy="310896"/>
          </a:xfrm>
          <a:prstGeom prst="roundRect">
            <a:avLst>
              <a:gd name="adj" fmla="val 23529"/>
            </a:avLst>
          </a:prstGeom>
          <a:solidFill>
            <a:srgbClr val="F8DEDC"/>
          </a:solidFill>
          <a:ln w="12700">
            <a:solidFill>
              <a:srgbClr val="F8DEDC"/>
            </a:solidFill>
            <a:prstDash val="solid"/>
          </a:ln>
        </p:spPr>
      </p:sp>
      <p:sp>
        <p:nvSpPr>
          <p:cNvPr id="68" name="Text 66"/>
          <p:cNvSpPr txBox="1"/>
          <p:nvPr/>
        </p:nvSpPr>
        <p:spPr>
          <a:xfrm>
            <a:off x="9637776" y="3337560"/>
            <a:ext cx="685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045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W1-G</a:t>
            </a:r>
            <a:endParaRPr lang="en-US" sz="1100" dirty="0"/>
          </a:p>
        </p:txBody>
      </p:sp>
      <p:sp>
        <p:nvSpPr>
          <p:cNvPr id="69" name="Text 67"/>
          <p:cNvSpPr txBox="1"/>
          <p:nvPr/>
        </p:nvSpPr>
        <p:spPr>
          <a:xfrm>
            <a:off x="10387584" y="3337560"/>
            <a:ext cx="1097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Antigravity</a:t>
            </a:r>
            <a:endParaRPr lang="en-US" sz="1100" dirty="0"/>
          </a:p>
        </p:txBody>
      </p:sp>
      <p:sp>
        <p:nvSpPr>
          <p:cNvPr id="70" name="Shape 68"/>
          <p:cNvSpPr/>
          <p:nvPr/>
        </p:nvSpPr>
        <p:spPr>
          <a:xfrm>
            <a:off x="3931920" y="3995928"/>
            <a:ext cx="685800" cy="310896"/>
          </a:xfrm>
          <a:prstGeom prst="roundRect">
            <a:avLst>
              <a:gd name="adj" fmla="val 23529"/>
            </a:avLst>
          </a:prstGeom>
          <a:solidFill>
            <a:srgbClr val="F8DEDC"/>
          </a:solidFill>
          <a:ln w="12700">
            <a:solidFill>
              <a:srgbClr val="F8DEDC"/>
            </a:solidFill>
            <a:prstDash val="solid"/>
          </a:ln>
        </p:spPr>
      </p:sp>
      <p:sp>
        <p:nvSpPr>
          <p:cNvPr id="71" name="Text 69"/>
          <p:cNvSpPr txBox="1"/>
          <p:nvPr/>
        </p:nvSpPr>
        <p:spPr>
          <a:xfrm>
            <a:off x="3931920" y="3995928"/>
            <a:ext cx="685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045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W8</a:t>
            </a:r>
            <a:endParaRPr lang="en-US" sz="1100" dirty="0"/>
          </a:p>
        </p:txBody>
      </p:sp>
      <p:sp>
        <p:nvSpPr>
          <p:cNvPr id="72" name="Text 70"/>
          <p:cNvSpPr txBox="1"/>
          <p:nvPr/>
        </p:nvSpPr>
        <p:spPr>
          <a:xfrm>
            <a:off x="4681728" y="3995928"/>
            <a:ext cx="1097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real-boundary</a:t>
            </a:r>
            <a:endParaRPr lang="en-US" sz="1100" dirty="0"/>
          </a:p>
        </p:txBody>
      </p:sp>
      <p:sp>
        <p:nvSpPr>
          <p:cNvPr id="73" name="Shape 71"/>
          <p:cNvSpPr/>
          <p:nvPr/>
        </p:nvSpPr>
        <p:spPr>
          <a:xfrm>
            <a:off x="5833872" y="3995928"/>
            <a:ext cx="685800" cy="310896"/>
          </a:xfrm>
          <a:prstGeom prst="roundRect">
            <a:avLst>
              <a:gd name="adj" fmla="val 23529"/>
            </a:avLst>
          </a:prstGeom>
          <a:solidFill>
            <a:srgbClr val="F8DEDC"/>
          </a:solidFill>
          <a:ln w="12700">
            <a:solidFill>
              <a:srgbClr val="F8DEDC"/>
            </a:solidFill>
            <a:prstDash val="solid"/>
          </a:ln>
        </p:spPr>
      </p:sp>
      <p:sp>
        <p:nvSpPr>
          <p:cNvPr id="74" name="Text 72"/>
          <p:cNvSpPr txBox="1"/>
          <p:nvPr/>
        </p:nvSpPr>
        <p:spPr>
          <a:xfrm>
            <a:off x="5833872" y="3995928"/>
            <a:ext cx="685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045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W24</a:t>
            </a:r>
            <a:endParaRPr lang="en-US" sz="1100" dirty="0"/>
          </a:p>
        </p:txBody>
      </p:sp>
      <p:sp>
        <p:nvSpPr>
          <p:cNvPr id="75" name="Text 73"/>
          <p:cNvSpPr txBox="1"/>
          <p:nvPr/>
        </p:nvSpPr>
        <p:spPr>
          <a:xfrm>
            <a:off x="6583680" y="3995928"/>
            <a:ext cx="1097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 runs</a:t>
            </a:r>
            <a:endParaRPr lang="en-US" sz="1100" dirty="0"/>
          </a:p>
        </p:txBody>
      </p:sp>
      <p:sp>
        <p:nvSpPr>
          <p:cNvPr id="76" name="Shape 74"/>
          <p:cNvSpPr/>
          <p:nvPr/>
        </p:nvSpPr>
        <p:spPr>
          <a:xfrm>
            <a:off x="7735824" y="3995928"/>
            <a:ext cx="685800" cy="310896"/>
          </a:xfrm>
          <a:prstGeom prst="roundRect">
            <a:avLst>
              <a:gd name="adj" fmla="val 23529"/>
            </a:avLst>
          </a:prstGeom>
          <a:solidFill>
            <a:srgbClr val="F8DEDC"/>
          </a:solidFill>
          <a:ln w="12700">
            <a:solidFill>
              <a:srgbClr val="F8DEDC"/>
            </a:solidFill>
            <a:prstDash val="solid"/>
          </a:ln>
        </p:spPr>
      </p:sp>
      <p:sp>
        <p:nvSpPr>
          <p:cNvPr id="77" name="Text 75"/>
          <p:cNvSpPr txBox="1"/>
          <p:nvPr/>
        </p:nvSpPr>
        <p:spPr>
          <a:xfrm>
            <a:off x="7735824" y="3995928"/>
            <a:ext cx="685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045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W20</a:t>
            </a:r>
            <a:endParaRPr lang="en-US" sz="1100" dirty="0"/>
          </a:p>
        </p:txBody>
      </p:sp>
      <p:sp>
        <p:nvSpPr>
          <p:cNvPr id="78" name="Text 76"/>
          <p:cNvSpPr txBox="1"/>
          <p:nvPr/>
        </p:nvSpPr>
        <p:spPr>
          <a:xfrm>
            <a:off x="8485632" y="3995928"/>
            <a:ext cx="1097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</a:t>
            </a:r>
            <a:endParaRPr lang="en-US" sz="1100" dirty="0"/>
          </a:p>
        </p:txBody>
      </p:sp>
      <p:sp>
        <p:nvSpPr>
          <p:cNvPr id="79" name="Shape 77"/>
          <p:cNvSpPr/>
          <p:nvPr/>
        </p:nvSpPr>
        <p:spPr>
          <a:xfrm>
            <a:off x="9637776" y="3995928"/>
            <a:ext cx="685800" cy="310896"/>
          </a:xfrm>
          <a:prstGeom prst="roundRect">
            <a:avLst>
              <a:gd name="adj" fmla="val 23529"/>
            </a:avLst>
          </a:prstGeom>
          <a:solidFill>
            <a:srgbClr val="F8DEDC"/>
          </a:solidFill>
          <a:ln w="12700">
            <a:solidFill>
              <a:srgbClr val="F8DEDC"/>
            </a:solidFill>
            <a:prstDash val="solid"/>
          </a:ln>
        </p:spPr>
      </p:sp>
      <p:sp>
        <p:nvSpPr>
          <p:cNvPr id="80" name="Text 78"/>
          <p:cNvSpPr txBox="1"/>
          <p:nvPr/>
        </p:nvSpPr>
        <p:spPr>
          <a:xfrm>
            <a:off x="9637776" y="3995928"/>
            <a:ext cx="685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045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W18</a:t>
            </a:r>
            <a:endParaRPr lang="en-US" sz="1100" dirty="0"/>
          </a:p>
        </p:txBody>
      </p:sp>
      <p:sp>
        <p:nvSpPr>
          <p:cNvPr id="81" name="Text 79"/>
          <p:cNvSpPr txBox="1"/>
          <p:nvPr/>
        </p:nvSpPr>
        <p:spPr>
          <a:xfrm>
            <a:off x="10387584" y="3995928"/>
            <a:ext cx="1097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run-in</a:t>
            </a:r>
            <a:endParaRPr lang="en-US" sz="1100" dirty="0"/>
          </a:p>
        </p:txBody>
      </p:sp>
      <p:sp>
        <p:nvSpPr>
          <p:cNvPr id="82" name="Shape 80"/>
          <p:cNvSpPr/>
          <p:nvPr/>
        </p:nvSpPr>
        <p:spPr>
          <a:xfrm>
            <a:off x="3931920" y="4800600"/>
            <a:ext cx="7680960" cy="1417320"/>
          </a:xfrm>
          <a:prstGeom prst="roundRect">
            <a:avLst>
              <a:gd name="adj" fmla="val 6452"/>
            </a:avLst>
          </a:prstGeom>
          <a:solidFill>
            <a:srgbClr val="F1F4F7"/>
          </a:solidFill>
          <a:ln w="12700">
            <a:solidFill>
              <a:srgbClr val="F1F4F7"/>
            </a:solidFill>
            <a:prstDash val="solid"/>
          </a:ln>
        </p:spPr>
      </p:sp>
      <p:sp>
        <p:nvSpPr>
          <p:cNvPr id="83" name="Text 81"/>
          <p:cNvSpPr txBox="1"/>
          <p:nvPr/>
        </p:nvSpPr>
        <p:spPr>
          <a:xfrm>
            <a:off x="4160520" y="489204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Also not built</a:t>
            </a:r>
            <a:endParaRPr lang="en-US" sz="1300" dirty="0"/>
          </a:p>
        </p:txBody>
      </p:sp>
      <p:sp>
        <p:nvSpPr>
          <p:cNvPr id="84" name="Text 82"/>
          <p:cNvSpPr txBox="1"/>
          <p:nvPr/>
        </p:nvSpPr>
        <p:spPr>
          <a:xfrm>
            <a:off x="4160520" y="5212080"/>
            <a:ext cx="72694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Watchtower notification ingestion (the sentinel only checks a heartbeat file)</a:t>
            </a:r>
            <a:endParaRPr lang="en-US" sz="12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Offline hardware-token signing (D14) wired into the valops bundle CLI</a:t>
            </a:r>
            <a:endParaRPr lang="en-US" sz="12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runs of the S3 object-lock anchor and the ops ↔ validator mTLS link (both implemented)</a:t>
            </a:r>
            <a:endParaRPr lang="en-US" sz="1200" dirty="0"/>
          </a:p>
        </p:txBody>
      </p:sp>
      <p:sp>
        <p:nvSpPr>
          <p:cNvPr id="85" name="Text 83"/>
          <p:cNvSpPr txBox="1"/>
          <p:nvPr/>
        </p:nvSpPr>
        <p:spPr>
          <a:xfrm>
            <a:off x="548640" y="6446520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docs/IMPLEMENTATION-NOTES.md §1, §3 · pytest -q on 2026-09-21: 106 passed, 14 skipped in 100 s</a:t>
            </a:r>
            <a:endParaRPr lang="en-US" sz="900" dirty="0"/>
          </a:p>
        </p:txBody>
      </p:sp>
      <p:sp>
        <p:nvSpPr>
          <p:cNvPr id="86" name="Text 84"/>
          <p:cNvSpPr txBox="1"/>
          <p:nvPr/>
        </p:nvSpPr>
        <p:spPr>
          <a:xfrm>
            <a:off x="1115568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17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Gate readiness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87552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5B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three gate records (docs/gates/G0–G2.md) read “pending”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3566160" cy="4709160"/>
          </a:xfrm>
          <a:prstGeom prst="roundRect">
            <a:avLst>
              <a:gd name="adj" fmla="val 2564"/>
            </a:avLst>
          </a:prstGeom>
          <a:solidFill>
            <a:srgbClr val="F1F4F7"/>
          </a:solidFill>
          <a:ln w="12700">
            <a:solidFill>
              <a:srgbClr val="F1F4F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77240" y="1691640"/>
            <a:ext cx="566928" cy="566928"/>
          </a:xfrm>
          <a:prstGeom prst="diamond">
            <a:avLst/>
          </a:prstGeom>
          <a:solidFill>
            <a:srgbClr val="0F1720"/>
          </a:solidFill>
          <a:ln w="12700">
            <a:solidFill>
              <a:srgbClr val="0F1720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77240" y="169164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G0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1508760" y="1828800"/>
            <a:ext cx="1554480" cy="310896"/>
          </a:xfrm>
          <a:prstGeom prst="roundRect">
            <a:avLst>
              <a:gd name="adj" fmla="val 23529"/>
            </a:avLst>
          </a:prstGeom>
          <a:solidFill>
            <a:srgbClr val="FBEBD2"/>
          </a:solidFill>
          <a:ln w="12700">
            <a:solidFill>
              <a:srgbClr val="FBEBD2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1508760" y="1828800"/>
            <a:ext cx="1554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982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Pending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777240" y="2468880"/>
            <a:ext cx="3154680" cy="3611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G0-due decisions open, all with proposed defaults: D1, D3, D5, D6, D7, D11, D14, D15, D16, D19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register parameters still null (P-02, P-03, P-06, P-07, P-16, P-28, P-30); the bundle builder refuses to build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Version, identity and price placeholders (REPLACE_AT_*) in the bundle source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DRIs, security reviewer and operator not named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297680" y="1508760"/>
            <a:ext cx="3566160" cy="4709160"/>
          </a:xfrm>
          <a:prstGeom prst="roundRect">
            <a:avLst>
              <a:gd name="adj" fmla="val 2564"/>
            </a:avLst>
          </a:prstGeom>
          <a:solidFill>
            <a:srgbClr val="F1F4F7"/>
          </a:solidFill>
          <a:ln w="12700">
            <a:solidFill>
              <a:srgbClr val="F1F4F7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526280" y="1691640"/>
            <a:ext cx="566928" cy="566928"/>
          </a:xfrm>
          <a:prstGeom prst="diamond">
            <a:avLst/>
          </a:prstGeom>
          <a:solidFill>
            <a:srgbClr val="0F1720"/>
          </a:solidFill>
          <a:ln w="12700">
            <a:solidFill>
              <a:srgbClr val="0F1720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526280" y="169164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G1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257800" y="1828800"/>
            <a:ext cx="1554480" cy="310896"/>
          </a:xfrm>
          <a:prstGeom prst="roundRect">
            <a:avLst>
              <a:gd name="adj" fmla="val 23529"/>
            </a:avLst>
          </a:prstGeom>
          <a:solidFill>
            <a:srgbClr val="F8DEDC"/>
          </a:solidFill>
          <a:ln w="12700">
            <a:solidFill>
              <a:srgbClr val="F8DEDC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5257800" y="1828800"/>
            <a:ext cx="1554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045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Blocked on G0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4526280" y="2468880"/>
            <a:ext cx="3154680" cy="3611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W1: SDK options not yet run on a pinned SDK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failIfUnavailable discrepancy unresolved; fail-closed currently comes from the bwrap pre-flight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real-boundary runs: separate uids, WORM anchor, mTLS link, real keys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ER-1 … ER-13 not signed off; no restore test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8046720" y="1508760"/>
            <a:ext cx="3566160" cy="4709160"/>
          </a:xfrm>
          <a:prstGeom prst="roundRect">
            <a:avLst>
              <a:gd name="adj" fmla="val 2564"/>
            </a:avLst>
          </a:prstGeom>
          <a:solidFill>
            <a:srgbClr val="F1F4F7"/>
          </a:solidFill>
          <a:ln w="12700">
            <a:solidFill>
              <a:srgbClr val="F1F4F7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275320" y="1691640"/>
            <a:ext cx="566928" cy="566928"/>
          </a:xfrm>
          <a:prstGeom prst="diamond">
            <a:avLst/>
          </a:prstGeom>
          <a:solidFill>
            <a:srgbClr val="0F1720"/>
          </a:solidFill>
          <a:ln w="12700">
            <a:solidFill>
              <a:srgbClr val="0F1720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8275320" y="169164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G2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9006840" y="1828800"/>
            <a:ext cx="1554480" cy="310896"/>
          </a:xfrm>
          <a:prstGeom prst="roundRect">
            <a:avLst>
              <a:gd name="adj" fmla="val 23529"/>
            </a:avLst>
          </a:prstGeom>
          <a:solidFill>
            <a:srgbClr val="F8DEDC"/>
          </a:solidFill>
          <a:ln w="12700">
            <a:solidFill>
              <a:srgbClr val="F8DEDC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9006840" y="1828800"/>
            <a:ext cx="1554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045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started</a:t>
            </a:r>
            <a:endParaRPr lang="en-US" sz="1100" dirty="0"/>
          </a:p>
        </p:txBody>
      </p:sp>
      <p:sp>
        <p:nvSpPr>
          <p:cNvPr id="21" name="Text 19"/>
          <p:cNvSpPr txBox="1"/>
          <p:nvPr/>
        </p:nvSpPr>
        <p:spPr>
          <a:xfrm>
            <a:off x="8275320" y="2468880"/>
            <a:ext cx="3154680" cy="3611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Judge adversarial, diagnosis quality and operator-value suites need a live model and the testnet validator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Fixtures and Wilson statistics exist (eval/)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Watchtower baseline campaign, then the 28-day run-in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548640" y="6446520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docs/registers/decisions.yaml, parameters.yaml · policy/bundle-src · IMPLEMENTATION-NOTES §3</a:t>
            </a:r>
            <a:endParaRPr lang="en-US" sz="900" dirty="0"/>
          </a:p>
        </p:txBody>
      </p:sp>
      <p:sp>
        <p:nvSpPr>
          <p:cNvPr id="23" name="Text 21"/>
          <p:cNvSpPr txBox="1"/>
          <p:nvPr/>
        </p:nvSpPr>
        <p:spPr>
          <a:xfrm>
            <a:off x="1115568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17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the build taught the design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87552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5B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 deviations (N-1 … N-17) found in coding, now reconciled into HLD v0.5 §14.3. Highlights:</a:t>
            </a:r>
            <a:endParaRPr lang="en-US" sz="15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54480"/>
          <a:ext cx="11064240" cy="914400"/>
        </p:xfrm>
        <a:graphic>
          <a:graphicData uri="http://schemas.openxmlformats.org/drawingml/2006/table">
            <a:tbl>
              <a:tblPr/>
              <a:tblGrid>
                <a:gridCol w="1371600"/>
                <a:gridCol w="3840480"/>
                <a:gridCol w="5852160"/>
              </a:tblGrid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Change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Why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0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6A4BD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N-1 / N-2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Store grows from 3 to 5 endpoints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separate socket per broker keeps the socket as the principal; tool-driven re-samples become citable signals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6A4BD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N-3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Sockets bind-mounted, not inherited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SO_PEERCRED is captured at connect(); an inherited fd would carry the controller's identity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6A4BD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N-4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Judge retries exhausted → handed_off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safer of two conflicting readings; §7.2 now agrees with R-3, §9 and RB-2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6A4BD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N-7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Store rejects mode-specific advice under unknown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deterministic layer in front of a model-quality control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6A4BD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N-8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Alert fields filled from the record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persuaded reporter can't misstate the verdict or severity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6A4BD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N-10 / N-12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refusal fallback; conservative metering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Keeps the pinned model; limits still bind when usage can't be parsed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548640" y="6446520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docs/IMPLEMENTATION-NOTES.md §2 · HLD §14.3</a:t>
            </a:r>
            <a:endParaRPr lang="en-US" sz="900" dirty="0"/>
          </a:p>
        </p:txBody>
      </p:sp>
      <p:sp>
        <p:nvSpPr>
          <p:cNvPr id="6" name="Text 3"/>
          <p:cNvSpPr txBox="1"/>
          <p:nvPr/>
        </p:nvSpPr>
        <p:spPr>
          <a:xfrm>
            <a:off x="1115568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17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risks and kill criteria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18872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E9E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Risks → mitigations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6675120" cy="804672"/>
          </a:xfrm>
          <a:prstGeom prst="roundRect">
            <a:avLst>
              <a:gd name="adj" fmla="val 11364"/>
            </a:avLst>
          </a:prstGeom>
          <a:solidFill>
            <a:srgbClr val="F1F4F7"/>
          </a:solidFill>
          <a:ln w="12700">
            <a:solidFill>
              <a:srgbClr val="F1F4F7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77240" y="1719072"/>
            <a:ext cx="6309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W1 invalidates the SDK sandbox or permission model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2048256"/>
            <a:ext cx="6309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 schedule risk. Close the gap outside the SDK, or stop (kill 1)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548640" y="2560320"/>
            <a:ext cx="6675120" cy="804672"/>
          </a:xfrm>
          <a:prstGeom prst="roundRect">
            <a:avLst>
              <a:gd name="adj" fmla="val 11364"/>
            </a:avLst>
          </a:prstGeom>
          <a:solidFill>
            <a:srgbClr val="F1F4F7"/>
          </a:solidFill>
          <a:ln w="12700">
            <a:solidFill>
              <a:srgbClr val="F1F4F7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77240" y="2633472"/>
            <a:ext cx="6309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runtime ships built-in tools it can't remove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777240" y="2962656"/>
            <a:ext cx="6309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PC-2 inertness under a minimal rootfs, or native-only admission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548640" y="3474720"/>
            <a:ext cx="6675120" cy="804672"/>
          </a:xfrm>
          <a:prstGeom prst="roundRect">
            <a:avLst>
              <a:gd name="adj" fmla="val 11364"/>
            </a:avLst>
          </a:prstGeom>
          <a:solidFill>
            <a:srgbClr val="F1F4F7"/>
          </a:solidFill>
          <a:ln w="12700">
            <a:solidFill>
              <a:srgbClr val="F1F4F7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777240" y="3547872"/>
            <a:ext cx="6309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Worker compromise via prompt injection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777240" y="3877056"/>
            <a:ext cx="6309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Scoped short-lived token; brokers re-check everything; no key, no write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548640" y="4389120"/>
            <a:ext cx="6675120" cy="804672"/>
          </a:xfrm>
          <a:prstGeom prst="roundRect">
            <a:avLst>
              <a:gd name="adj" fmla="val 11364"/>
            </a:avLst>
          </a:prstGeom>
          <a:solidFill>
            <a:srgbClr val="F1F4F7"/>
          </a:solidFill>
          <a:ln w="12700">
            <a:solidFill>
              <a:srgbClr val="F1F4F7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777240" y="4462272"/>
            <a:ext cx="6309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Observation degrades the validator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777240" y="4791456"/>
            <a:ext cx="6309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cgroup limits, concurrency 1, rate caps, RPC breaker; Q-7 measured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548640" y="5303520"/>
            <a:ext cx="6675120" cy="804672"/>
          </a:xfrm>
          <a:prstGeom prst="roundRect">
            <a:avLst>
              <a:gd name="adj" fmla="val 11364"/>
            </a:avLst>
          </a:prstGeom>
          <a:solidFill>
            <a:srgbClr val="F1F4F7"/>
          </a:solidFill>
          <a:ln w="12700">
            <a:solidFill>
              <a:srgbClr val="F1F4F7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777240" y="5376672"/>
            <a:ext cx="6309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M0 builds something the operator won't use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777240" y="5705856"/>
            <a:ext cx="6309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Watchtower baseline; the operator holds a value veto at G2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7543800" y="1188720"/>
            <a:ext cx="4069080" cy="5029200"/>
          </a:xfrm>
          <a:prstGeom prst="roundRect">
            <a:avLst>
              <a:gd name="adj" fmla="val 2247"/>
            </a:avLst>
          </a:prstGeom>
          <a:solidFill>
            <a:srgbClr val="F8DEDC"/>
          </a:solidFill>
          <a:ln w="12700">
            <a:solidFill>
              <a:srgbClr val="F8DEDC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7772400" y="132588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045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Stop if…</a:t>
            </a:r>
            <a:endParaRPr lang="en-US" sz="1600" dirty="0"/>
          </a:p>
        </p:txBody>
      </p:sp>
      <p:sp>
        <p:nvSpPr>
          <p:cNvPr id="21" name="Text 19"/>
          <p:cNvSpPr txBox="1"/>
          <p:nvPr/>
        </p:nvSpPr>
        <p:spPr>
          <a:xfrm>
            <a:off x="7772400" y="1783080"/>
            <a:ext cx="3657600" cy="4297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SDK semantics can't guarantee SR-3/4/10/11 and the gap can't be closed outside the SDK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M0A can't show its 4 properties, even after one extension of half the time box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unauthorised execution not traceable to a fixable defect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Judge misses any seeded case (M0 tolerance: zero)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Operator-value evidence doesn't support the hypothesis. Passing safety gates isn't a reason to continue</a:t>
            </a:r>
            <a:endParaRPr lang="en-US" sz="1250" dirty="0"/>
          </a:p>
        </p:txBody>
      </p:sp>
      <p:sp>
        <p:nvSpPr>
          <p:cNvPr id="22" name="Text 20"/>
          <p:cNvSpPr txBox="1"/>
          <p:nvPr/>
        </p:nvSpPr>
        <p:spPr>
          <a:xfrm>
            <a:off x="548640" y="6446520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§10, §12 · §7.1 schedule note</a:t>
            </a:r>
            <a:endParaRPr lang="en-US" sz="900" dirty="0"/>
          </a:p>
        </p:txBody>
      </p:sp>
      <p:sp>
        <p:nvSpPr>
          <p:cNvPr id="23" name="Text 21"/>
          <p:cNvSpPr txBox="1"/>
          <p:nvPr/>
        </p:nvSpPr>
        <p:spPr>
          <a:xfrm>
            <a:off x="1115568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F17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502920"/>
            <a:ext cx="10058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Decisions needed to move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731520" y="1508760"/>
            <a:ext cx="548640" cy="548640"/>
          </a:xfrm>
          <a:prstGeom prst="ellipse">
            <a:avLst/>
          </a:prstGeom>
          <a:solidFill>
            <a:srgbClr val="0E9E8A"/>
          </a:solidFill>
          <a:ln w="12700">
            <a:solidFill>
              <a:srgbClr val="0E9E8A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31520" y="15087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1508760" y="1463040"/>
            <a:ext cx="9875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 the G0 package</a:t>
            </a:r>
            <a:endParaRPr lang="en-US" sz="1700" dirty="0"/>
          </a:p>
        </p:txBody>
      </p:sp>
      <p:sp>
        <p:nvSpPr>
          <p:cNvPr id="6" name="Text 4"/>
          <p:cNvSpPr txBox="1"/>
          <p:nvPr/>
        </p:nvSpPr>
        <p:spPr>
          <a:xfrm>
            <a:off x="1508760" y="1810512"/>
            <a:ext cx="9875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9D3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 or adopt defaults for D1, D3, D5, D6, D7, D11, D14, D15, D16, D19. Name the DRIs, the independent security reviewer, the operator + backup and the injector.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731520" y="2487168"/>
            <a:ext cx="548640" cy="548640"/>
          </a:xfrm>
          <a:prstGeom prst="ellipse">
            <a:avLst/>
          </a:prstGeom>
          <a:solidFill>
            <a:srgbClr val="0E9E8A"/>
          </a:solidFill>
          <a:ln w="12700">
            <a:solidFill>
              <a:srgbClr val="0E9E8A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31520" y="248716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1508760" y="2441448"/>
            <a:ext cx="9875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Pin and verify the reference configuration</a:t>
            </a:r>
            <a:endParaRPr lang="en-US" sz="1700" dirty="0"/>
          </a:p>
        </p:txBody>
      </p:sp>
      <p:sp>
        <p:nvSpPr>
          <p:cNvPr id="10" name="Text 8"/>
          <p:cNvSpPr txBox="1"/>
          <p:nvPr/>
        </p:nvSpPr>
        <p:spPr>
          <a:xfrm>
            <a:off x="1508760" y="2788920"/>
            <a:ext cx="9875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9D3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Pin the Python + claude-agent-sdk + model ID (D7), then run W1 and resolve failIfUnavailable.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731520" y="3465576"/>
            <a:ext cx="548640" cy="548640"/>
          </a:xfrm>
          <a:prstGeom prst="ellipse">
            <a:avLst/>
          </a:prstGeom>
          <a:solidFill>
            <a:srgbClr val="0E9E8A"/>
          </a:solidFill>
          <a:ln w="12700">
            <a:solidFill>
              <a:srgbClr val="0E9E8A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731520" y="3465576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13" name="Text 11"/>
          <p:cNvSpPr txBox="1"/>
          <p:nvPr/>
        </p:nvSpPr>
        <p:spPr>
          <a:xfrm>
            <a:off x="1508760" y="3419856"/>
            <a:ext cx="9875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 up real environments</a:t>
            </a:r>
            <a:endParaRPr lang="en-US" sz="1700" dirty="0"/>
          </a:p>
        </p:txBody>
      </p:sp>
      <p:sp>
        <p:nvSpPr>
          <p:cNvPr id="14" name="Text 12"/>
          <p:cNvSpPr txBox="1"/>
          <p:nvPr/>
        </p:nvSpPr>
        <p:spPr>
          <a:xfrm>
            <a:off x="1508760" y="3767328"/>
            <a:ext cx="9875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9D3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ER-1 … ER-13: testnet validator, hardened ops host, WORM anchor account, key ceremony, mTLS CA, per-class uids.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731520" y="4443984"/>
            <a:ext cx="548640" cy="548640"/>
          </a:xfrm>
          <a:prstGeom prst="ellipse">
            <a:avLst/>
          </a:prstGeom>
          <a:solidFill>
            <a:srgbClr val="0E9E8A"/>
          </a:solidFill>
          <a:ln w="12700">
            <a:solidFill>
              <a:srgbClr val="0E9E8A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731520" y="4443984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17" name="Text 15"/>
          <p:cNvSpPr txBox="1"/>
          <p:nvPr/>
        </p:nvSpPr>
        <p:spPr>
          <a:xfrm>
            <a:off x="1508760" y="4398264"/>
            <a:ext cx="9875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Prove containment → G1</a:t>
            </a:r>
            <a:endParaRPr lang="en-US" sz="1700" dirty="0"/>
          </a:p>
        </p:txBody>
      </p:sp>
      <p:sp>
        <p:nvSpPr>
          <p:cNvPr id="18" name="Text 16"/>
          <p:cNvSpPr txBox="1"/>
          <p:nvPr/>
        </p:nvSpPr>
        <p:spPr>
          <a:xfrm>
            <a:off x="1508760" y="4745736"/>
            <a:ext cx="9875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9D3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the M0A suites on real boundaries, 20 trials at 100%, with a restore test.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731520" y="5422392"/>
            <a:ext cx="548640" cy="548640"/>
          </a:xfrm>
          <a:prstGeom prst="ellipse">
            <a:avLst/>
          </a:prstGeom>
          <a:solidFill>
            <a:srgbClr val="0E9E8A"/>
          </a:solidFill>
          <a:ln w="12700">
            <a:solidFill>
              <a:srgbClr val="0E9E8A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731520" y="542239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800" dirty="0"/>
          </a:p>
        </p:txBody>
      </p:sp>
      <p:sp>
        <p:nvSpPr>
          <p:cNvPr id="21" name="Text 19"/>
          <p:cNvSpPr txBox="1"/>
          <p:nvPr/>
        </p:nvSpPr>
        <p:spPr>
          <a:xfrm>
            <a:off x="1508760" y="5376672"/>
            <a:ext cx="9875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Staff the provider track</a:t>
            </a:r>
            <a:endParaRPr lang="en-US" sz="1700" dirty="0"/>
          </a:p>
        </p:txBody>
      </p:sp>
      <p:sp>
        <p:nvSpPr>
          <p:cNvPr id="22" name="Text 20"/>
          <p:cNvSpPr txBox="1"/>
          <p:nvPr/>
        </p:nvSpPr>
        <p:spPr>
          <a:xfrm>
            <a:off x="1508760" y="5724144"/>
            <a:ext cx="9875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9D3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third engineer for Codex and Antigravity admission (22 eng-days); D21 data terms per provider.</a:t>
            </a:r>
            <a:endParaRPr lang="en-US" sz="12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valops-agent — Project Summary (Plan v0.5 / HLD v0.5 / Status)</dc:title>
  <dc:subject>PptxGenJS Presentation</dc:subject>
  <dc:creator>Peng Huang</dc:creator>
  <cp:lastModifiedBy>Peng Huang</cp:lastModifiedBy>
  <cp:revision>1</cp:revision>
  <dcterms:created xsi:type="dcterms:W3CDTF">2026-09-21T19:21:24Z</dcterms:created>
  <dcterms:modified xsi:type="dcterms:W3CDTF">2026-09-21T19:21:24Z</dcterms:modified>
</cp:coreProperties>
</file>